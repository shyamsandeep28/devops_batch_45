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74" r:id="rId3"/>
    <p:sldId id="376" r:id="rId4"/>
    <p:sldId id="375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92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197878"/>
            <a:ext cx="596455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24242"/>
                </a:solidFill>
                <a:latin typeface="Courier New"/>
                <a:cs typeface="Courier New"/>
              </a:defRPr>
            </a:lvl1pPr>
          </a:lstStyle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24242"/>
                </a:solidFill>
                <a:latin typeface="Courier New"/>
                <a:cs typeface="Courier New"/>
              </a:defRPr>
            </a:lvl1pPr>
          </a:lstStyle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24242"/>
                </a:solidFill>
                <a:latin typeface="Courier New"/>
                <a:cs typeface="Courier New"/>
              </a:defRPr>
            </a:lvl1pPr>
          </a:lstStyle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24242"/>
                </a:solidFill>
                <a:latin typeface="Courier New"/>
                <a:cs typeface="Courier New"/>
              </a:defRPr>
            </a:lvl1pPr>
          </a:lstStyle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24242"/>
                </a:solidFill>
                <a:latin typeface="Courier New"/>
                <a:cs typeface="Courier New"/>
              </a:defRPr>
            </a:lvl1pPr>
          </a:lstStyle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26769"/>
          </a:xfrm>
          <a:custGeom>
            <a:avLst/>
            <a:gdLst/>
            <a:ahLst/>
            <a:cxnLst/>
            <a:rect l="l" t="t" r="r" b="b"/>
            <a:pathLst>
              <a:path w="9144000" h="826769">
                <a:moveTo>
                  <a:pt x="0" y="0"/>
                </a:moveTo>
                <a:lnTo>
                  <a:pt x="9143999" y="0"/>
                </a:lnTo>
                <a:lnTo>
                  <a:pt x="9143999" y="826199"/>
                </a:lnTo>
                <a:lnTo>
                  <a:pt x="0" y="826199"/>
                </a:lnTo>
                <a:lnTo>
                  <a:pt x="0" y="0"/>
                </a:lnTo>
                <a:close/>
              </a:path>
            </a:pathLst>
          </a:custGeom>
          <a:solidFill>
            <a:srgbClr val="268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826769"/>
          </a:xfrm>
          <a:custGeom>
            <a:avLst/>
            <a:gdLst/>
            <a:ahLst/>
            <a:cxnLst/>
            <a:rect l="l" t="t" r="r" b="b"/>
            <a:pathLst>
              <a:path w="9144000" h="826769">
                <a:moveTo>
                  <a:pt x="0" y="0"/>
                </a:moveTo>
                <a:lnTo>
                  <a:pt x="9143999" y="0"/>
                </a:lnTo>
              </a:path>
              <a:path w="9144000" h="826769">
                <a:moveTo>
                  <a:pt x="9143999" y="826199"/>
                </a:moveTo>
                <a:lnTo>
                  <a:pt x="0" y="826199"/>
                </a:lnTo>
                <a:lnTo>
                  <a:pt x="0" y="0"/>
                </a:lnTo>
              </a:path>
            </a:pathLst>
          </a:custGeom>
          <a:ln w="9524">
            <a:solidFill>
              <a:srgbClr val="268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197878"/>
            <a:ext cx="726440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2924" y="2228275"/>
            <a:ext cx="7231380" cy="2630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8823" y="4768069"/>
            <a:ext cx="317500" cy="185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424242"/>
                </a:solidFill>
                <a:latin typeface="Courier New"/>
                <a:cs typeface="Courier New"/>
              </a:defRPr>
            </a:lvl1pPr>
          </a:lstStyle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67349"/>
            <a:ext cx="9144000" cy="2009139"/>
          </a:xfrm>
          <a:custGeom>
            <a:avLst/>
            <a:gdLst/>
            <a:ahLst/>
            <a:cxnLst/>
            <a:rect l="l" t="t" r="r" b="b"/>
            <a:pathLst>
              <a:path w="9144000" h="2009139">
                <a:moveTo>
                  <a:pt x="9143999" y="2008799"/>
                </a:moveTo>
                <a:lnTo>
                  <a:pt x="0" y="200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008799"/>
                </a:lnTo>
                <a:close/>
              </a:path>
            </a:pathLst>
          </a:custGeom>
          <a:solidFill>
            <a:srgbClr val="268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85436" y="2068322"/>
            <a:ext cx="417322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 marR="5080" indent="-245745">
              <a:lnSpc>
                <a:spcPct val="100000"/>
              </a:lnSpc>
              <a:spcBef>
                <a:spcPts val="100"/>
              </a:spcBef>
            </a:pPr>
            <a:r>
              <a:rPr sz="3600" spc="350" dirty="0"/>
              <a:t>Shell</a:t>
            </a:r>
            <a:r>
              <a:rPr sz="3600" spc="204" dirty="0"/>
              <a:t> </a:t>
            </a:r>
            <a:r>
              <a:rPr sz="3600" spc="409" dirty="0"/>
              <a:t>Scripting</a:t>
            </a:r>
            <a:br>
              <a:rPr lang="en-US" sz="3600" spc="409" dirty="0"/>
            </a:br>
            <a:endParaRPr sz="36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5ECB-F80A-CC7D-86FF-D75652EB46D3}"/>
              </a:ext>
            </a:extLst>
          </p:cNvPr>
          <p:cNvSpPr txBox="1"/>
          <p:nvPr/>
        </p:nvSpPr>
        <p:spPr>
          <a:xfrm>
            <a:off x="6235378" y="3892795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Sandeep Kumar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2571750"/>
            <a:ext cx="9169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b="1" spc="300" dirty="0">
                <a:solidFill>
                  <a:srgbClr val="FF0000"/>
                </a:solidFill>
              </a:rPr>
              <a:t>What</a:t>
            </a:r>
            <a:r>
              <a:rPr sz="5400" b="1" spc="155" dirty="0">
                <a:solidFill>
                  <a:srgbClr val="FF0000"/>
                </a:solidFill>
              </a:rPr>
              <a:t> </a:t>
            </a:r>
            <a:r>
              <a:rPr sz="5400" b="1" spc="290" dirty="0">
                <a:solidFill>
                  <a:srgbClr val="FF0000"/>
                </a:solidFill>
              </a:rPr>
              <a:t>is</a:t>
            </a:r>
            <a:r>
              <a:rPr sz="5400" b="1" spc="155" dirty="0">
                <a:solidFill>
                  <a:srgbClr val="FF0000"/>
                </a:solidFill>
              </a:rPr>
              <a:t> </a:t>
            </a:r>
            <a:r>
              <a:rPr lang="en-US" sz="5400" b="1" spc="260" dirty="0">
                <a:solidFill>
                  <a:srgbClr val="FF0000"/>
                </a:solidFill>
              </a:rPr>
              <a:t>Kernel?</a:t>
            </a:r>
            <a:endParaRPr sz="5400" b="1" spc="275" dirty="0">
              <a:solidFill>
                <a:srgbClr val="FF0000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89751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0" dirty="0"/>
              <a:t>What</a:t>
            </a:r>
            <a:r>
              <a:rPr spc="155" dirty="0"/>
              <a:t> </a:t>
            </a:r>
            <a:r>
              <a:rPr spc="290" dirty="0"/>
              <a:t>is</a:t>
            </a:r>
            <a:r>
              <a:rPr spc="155" dirty="0"/>
              <a:t> </a:t>
            </a:r>
            <a:r>
              <a:rPr lang="en-US" spc="260" dirty="0"/>
              <a:t>Kernel?</a:t>
            </a:r>
            <a:endParaRPr spc="275" dirty="0"/>
          </a:p>
        </p:txBody>
      </p:sp>
      <p:sp>
        <p:nvSpPr>
          <p:cNvPr id="3" name="object 3"/>
          <p:cNvSpPr txBox="1"/>
          <p:nvPr/>
        </p:nvSpPr>
        <p:spPr>
          <a:xfrm>
            <a:off x="157677" y="885204"/>
            <a:ext cx="5101675" cy="3717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rtl="0" fontAlgn="base">
              <a:lnSpc>
                <a:spcPct val="150000"/>
              </a:lnSpc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 kernel is a computer program that is the core of a computer’s operating system, with complete control over everything in the system. It manages the following resources of the Linux system –</a:t>
            </a:r>
          </a:p>
          <a:p>
            <a:pPr marL="285750" indent="-28575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File management</a:t>
            </a:r>
          </a:p>
          <a:p>
            <a:pPr marL="285750" indent="-28575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Process management</a:t>
            </a:r>
          </a:p>
          <a:p>
            <a:pPr marL="285750" indent="-28575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I/O management</a:t>
            </a:r>
          </a:p>
          <a:p>
            <a:pPr marL="285750" indent="-28575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Memory management</a:t>
            </a:r>
          </a:p>
          <a:p>
            <a:pPr marL="285750" indent="-28575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Device management etc.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1028" name="Picture 4" descr="Shell Scripting I: Linux Basics | Medium">
            <a:extLst>
              <a:ext uri="{FF2B5EF4-FFF2-40B4-BE49-F238E27FC236}">
                <a16:creationId xmlns:a16="http://schemas.microsoft.com/office/drawing/2014/main" id="{A1B61FEB-DD97-A929-1E98-B508A6813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576" y="1087597"/>
            <a:ext cx="3593747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08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0" dirty="0"/>
              <a:t>What</a:t>
            </a:r>
            <a:r>
              <a:rPr spc="155" dirty="0"/>
              <a:t> </a:t>
            </a:r>
            <a:r>
              <a:rPr spc="290" dirty="0"/>
              <a:t>is</a:t>
            </a:r>
            <a:r>
              <a:rPr spc="155" dirty="0"/>
              <a:t> </a:t>
            </a:r>
            <a:r>
              <a:rPr spc="260" dirty="0"/>
              <a:t>Shell</a:t>
            </a:r>
            <a:r>
              <a:rPr lang="en-US" spc="260" dirty="0"/>
              <a:t>?</a:t>
            </a:r>
            <a:endParaRPr spc="275" dirty="0"/>
          </a:p>
        </p:txBody>
      </p:sp>
      <p:sp>
        <p:nvSpPr>
          <p:cNvPr id="3" name="object 3"/>
          <p:cNvSpPr txBox="1"/>
          <p:nvPr/>
        </p:nvSpPr>
        <p:spPr>
          <a:xfrm>
            <a:off x="157677" y="885204"/>
            <a:ext cx="5101675" cy="38909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lang="en-US" sz="2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 shell is a special user program that provides an interface for the user to use operating system services. Shell accepts human-readable commands from users and converts them into something which the kernel can understand. It is a command language interpreter that executes commands read from input devices such as keyboards or from files. The shell gets started when the user logs in or starts the terminal.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1028" name="Picture 4" descr="Shell Scripting I: Linux Basics | Medium">
            <a:extLst>
              <a:ext uri="{FF2B5EF4-FFF2-40B4-BE49-F238E27FC236}">
                <a16:creationId xmlns:a16="http://schemas.microsoft.com/office/drawing/2014/main" id="{A1B61FEB-DD97-A929-1E98-B508A6813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576" y="1087597"/>
            <a:ext cx="3593747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36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0" dirty="0"/>
              <a:t>What</a:t>
            </a:r>
            <a:r>
              <a:rPr spc="155" dirty="0"/>
              <a:t> </a:t>
            </a:r>
            <a:r>
              <a:rPr spc="290" dirty="0"/>
              <a:t>is</a:t>
            </a:r>
            <a:r>
              <a:rPr spc="155" dirty="0"/>
              <a:t> </a:t>
            </a:r>
            <a:r>
              <a:rPr spc="260" dirty="0"/>
              <a:t>Shell</a:t>
            </a:r>
            <a:r>
              <a:rPr spc="160" dirty="0"/>
              <a:t> </a:t>
            </a:r>
            <a:r>
              <a:rPr spc="275" dirty="0"/>
              <a:t>Scripting?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3826510" cy="3332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i="1" spc="-90" dirty="0">
                <a:solidFill>
                  <a:srgbClr val="202124"/>
                </a:solidFill>
                <a:latin typeface="Trebuchet MS"/>
                <a:cs typeface="Trebuchet MS"/>
              </a:rPr>
              <a:t>shell</a:t>
            </a:r>
            <a:r>
              <a:rPr sz="2000" b="1" i="1" spc="-185" dirty="0">
                <a:solidFill>
                  <a:srgbClr val="202124"/>
                </a:solidFill>
                <a:latin typeface="Trebuchet MS"/>
                <a:cs typeface="Trebuchet MS"/>
              </a:rPr>
              <a:t> </a:t>
            </a:r>
            <a:r>
              <a:rPr sz="2000" b="1" i="1" spc="-80" dirty="0">
                <a:solidFill>
                  <a:srgbClr val="202124"/>
                </a:solidFill>
                <a:latin typeface="Trebuchet MS"/>
                <a:cs typeface="Trebuchet MS"/>
              </a:rPr>
              <a:t>script</a:t>
            </a:r>
            <a:r>
              <a:rPr sz="2000" b="1" i="1" spc="-175" dirty="0">
                <a:solidFill>
                  <a:srgbClr val="202124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text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file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that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contains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sequence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commands for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UNIX-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based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operating system.</a:t>
            </a:r>
            <a:endParaRPr sz="2000">
              <a:latin typeface="Tahoma"/>
              <a:cs typeface="Tahoma"/>
            </a:endParaRPr>
          </a:p>
          <a:p>
            <a:pPr marL="12700" marR="107950">
              <a:lnSpc>
                <a:spcPct val="114999"/>
              </a:lnSpc>
              <a:spcBef>
                <a:spcPts val="1200"/>
              </a:spcBef>
            </a:pPr>
            <a:r>
              <a:rPr sz="2000" spc="-1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called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because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it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combines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sequence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of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commands—that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would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otherwise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be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typed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keyboard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one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time—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single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6500" y="1210512"/>
            <a:ext cx="4352699" cy="27224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0" dirty="0"/>
              <a:t>What</a:t>
            </a:r>
            <a:r>
              <a:rPr spc="155" dirty="0"/>
              <a:t> </a:t>
            </a:r>
            <a:r>
              <a:rPr spc="290" dirty="0"/>
              <a:t>is</a:t>
            </a:r>
            <a:r>
              <a:rPr spc="155" dirty="0"/>
              <a:t> </a:t>
            </a:r>
            <a:r>
              <a:rPr spc="260" dirty="0"/>
              <a:t>Shell</a:t>
            </a:r>
            <a:r>
              <a:rPr spc="160" dirty="0"/>
              <a:t> </a:t>
            </a:r>
            <a:r>
              <a:rPr spc="275" dirty="0"/>
              <a:t>Scripting?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771130" cy="278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010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Most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their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202124"/>
                </a:solidFill>
                <a:latin typeface="Tahoma"/>
                <a:cs typeface="Tahoma"/>
              </a:rPr>
              <a:t>own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language,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each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02124"/>
                </a:solidFill>
                <a:latin typeface="Tahoma"/>
                <a:cs typeface="Tahoma"/>
              </a:rPr>
              <a:t>its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own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variables,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control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flow,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syntax.</a:t>
            </a:r>
            <a:endParaRPr sz="2000">
              <a:latin typeface="Tahoma"/>
              <a:cs typeface="Tahoma"/>
            </a:endParaRPr>
          </a:p>
          <a:p>
            <a:pPr marL="12700" marR="128905">
              <a:lnSpc>
                <a:spcPct val="114999"/>
              </a:lnSpc>
              <a:spcBef>
                <a:spcPts val="12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What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makes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different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from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languages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optimized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performing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related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tasks.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Creating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pipelines,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saving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results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files,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reading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from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standard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input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baked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scripting,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making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easier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use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compared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languages.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Basics</a:t>
            </a:r>
            <a:r>
              <a:rPr spc="150" dirty="0"/>
              <a:t> </a:t>
            </a:r>
            <a:r>
              <a:rPr spc="290" dirty="0"/>
              <a:t>of</a:t>
            </a:r>
            <a:r>
              <a:rPr spc="315" dirty="0"/>
              <a:t> </a:t>
            </a:r>
            <a:r>
              <a:rPr spc="290" dirty="0"/>
              <a:t>Bash</a:t>
            </a:r>
            <a:r>
              <a:rPr spc="155" dirty="0"/>
              <a:t> </a:t>
            </a:r>
            <a:r>
              <a:rPr spc="305" dirty="0"/>
              <a:t>Scripting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58444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b="1" spc="-13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refers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writing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(Bourne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Again SHell).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Basics</a:t>
            </a:r>
            <a:r>
              <a:rPr spc="150" dirty="0"/>
              <a:t> </a:t>
            </a:r>
            <a:r>
              <a:rPr spc="290" dirty="0"/>
              <a:t>of</a:t>
            </a:r>
            <a:r>
              <a:rPr spc="315" dirty="0"/>
              <a:t> </a:t>
            </a:r>
            <a:r>
              <a:rPr spc="290" dirty="0"/>
              <a:t>Bash</a:t>
            </a:r>
            <a:r>
              <a:rPr spc="155" dirty="0"/>
              <a:t> </a:t>
            </a:r>
            <a:r>
              <a:rPr spc="305" dirty="0"/>
              <a:t>Scripting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46563" y="4768069"/>
            <a:ext cx="1016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50" dirty="0">
                <a:solidFill>
                  <a:srgbClr val="424242"/>
                </a:solidFill>
                <a:latin typeface="Courier New"/>
                <a:cs typeface="Courier New"/>
              </a:rPr>
              <a:t>6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58444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b="1" spc="-13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refers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writing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(Bourne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Again SHell).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045080"/>
            <a:ext cx="54311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what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running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3750" y="2022524"/>
            <a:ext cx="1301750" cy="4699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628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Consolas"/>
                <a:cs typeface="Consolas"/>
              </a:rPr>
              <a:t>ps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$$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Basics</a:t>
            </a:r>
            <a:r>
              <a:rPr spc="150" dirty="0"/>
              <a:t> </a:t>
            </a:r>
            <a:r>
              <a:rPr spc="290" dirty="0"/>
              <a:t>of</a:t>
            </a:r>
            <a:r>
              <a:rPr spc="315" dirty="0"/>
              <a:t> </a:t>
            </a:r>
            <a:r>
              <a:rPr spc="290" dirty="0"/>
              <a:t>Bash</a:t>
            </a:r>
            <a:r>
              <a:rPr spc="155" dirty="0"/>
              <a:t> </a:t>
            </a:r>
            <a:r>
              <a:rPr spc="305" dirty="0"/>
              <a:t>Scripting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58444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b="1" spc="-13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refers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writing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(Bourne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Again SHell).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045080"/>
            <a:ext cx="54311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what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running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502280"/>
            <a:ext cx="7863205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on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Linux,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default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should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be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shell.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on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macOS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Windows,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202124"/>
                </a:solidFill>
                <a:latin typeface="Tahoma"/>
                <a:cs typeface="Tahoma"/>
              </a:rPr>
              <a:t>may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different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but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shouldn't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cause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issue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given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will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still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know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"speak"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bash.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3750" y="2022524"/>
            <a:ext cx="1301750" cy="4699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628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Consolas"/>
                <a:cs typeface="Consolas"/>
              </a:rPr>
              <a:t>ps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$$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Your</a:t>
            </a:r>
            <a:r>
              <a:rPr spc="160" dirty="0"/>
              <a:t> </a:t>
            </a:r>
            <a:r>
              <a:rPr spc="290" dirty="0"/>
              <a:t>Very</a:t>
            </a:r>
            <a:r>
              <a:rPr spc="165" dirty="0"/>
              <a:t> </a:t>
            </a:r>
            <a:r>
              <a:rPr spc="300" dirty="0"/>
              <a:t>First</a:t>
            </a:r>
            <a:r>
              <a:rPr spc="165" dirty="0"/>
              <a:t> </a:t>
            </a:r>
            <a:r>
              <a:rPr spc="310" dirty="0"/>
              <a:t>Script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57467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write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super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simple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says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hello!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Your</a:t>
            </a:r>
            <a:r>
              <a:rPr spc="160" dirty="0"/>
              <a:t> </a:t>
            </a:r>
            <a:r>
              <a:rPr spc="290" dirty="0"/>
              <a:t>Very</a:t>
            </a:r>
            <a:r>
              <a:rPr spc="165" dirty="0"/>
              <a:t> </a:t>
            </a:r>
            <a:r>
              <a:rPr spc="300" dirty="0"/>
              <a:t>First</a:t>
            </a:r>
            <a:r>
              <a:rPr spc="165" dirty="0"/>
              <a:t> </a:t>
            </a:r>
            <a:r>
              <a:rPr spc="310" dirty="0"/>
              <a:t>Script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56578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Here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super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simple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hello.sh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1694875"/>
            <a:ext cx="6409055" cy="110236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"Hello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world!"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Your</a:t>
            </a:r>
            <a:r>
              <a:rPr spc="160" dirty="0"/>
              <a:t> </a:t>
            </a:r>
            <a:r>
              <a:rPr spc="290" dirty="0"/>
              <a:t>Very</a:t>
            </a:r>
            <a:r>
              <a:rPr spc="165" dirty="0"/>
              <a:t> </a:t>
            </a:r>
            <a:r>
              <a:rPr spc="300" dirty="0"/>
              <a:t>First</a:t>
            </a:r>
            <a:r>
              <a:rPr spc="165" dirty="0"/>
              <a:t> </a:t>
            </a:r>
            <a:r>
              <a:rPr spc="310" dirty="0"/>
              <a:t>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56578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Here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super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simple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hello.sh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924" y="1694875"/>
            <a:ext cx="6409055" cy="1102360"/>
          </a:xfrm>
          <a:custGeom>
            <a:avLst/>
            <a:gdLst/>
            <a:ahLst/>
            <a:cxnLst/>
            <a:rect l="l" t="t" r="r" b="b"/>
            <a:pathLst>
              <a:path w="6409055" h="1102360">
                <a:moveTo>
                  <a:pt x="6408599" y="1101899"/>
                </a:moveTo>
                <a:lnTo>
                  <a:pt x="0" y="1101899"/>
                </a:lnTo>
                <a:lnTo>
                  <a:pt x="0" y="0"/>
                </a:lnTo>
                <a:lnTo>
                  <a:pt x="6408599" y="0"/>
                </a:lnTo>
                <a:lnTo>
                  <a:pt x="6408599" y="11018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2924" y="1637200"/>
            <a:ext cx="2957195" cy="518795"/>
          </a:xfrm>
          <a:prstGeom prst="rect">
            <a:avLst/>
          </a:prstGeom>
          <a:solidFill>
            <a:srgbClr val="F3F3F3"/>
          </a:solidFill>
          <a:ln w="38099">
            <a:solidFill>
              <a:srgbClr val="2688FF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75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5950" y="2319715"/>
            <a:ext cx="26752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"Hello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world!"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70024" y="1896399"/>
            <a:ext cx="1296035" cy="1587500"/>
          </a:xfrm>
          <a:custGeom>
            <a:avLst/>
            <a:gdLst/>
            <a:ahLst/>
            <a:cxnLst/>
            <a:rect l="l" t="t" r="r" b="b"/>
            <a:pathLst>
              <a:path w="1296035" h="1587500">
                <a:moveTo>
                  <a:pt x="0" y="0"/>
                </a:moveTo>
                <a:lnTo>
                  <a:pt x="1295999" y="1587299"/>
                </a:lnTo>
              </a:path>
            </a:pathLst>
          </a:custGeom>
          <a:ln w="38099">
            <a:solidFill>
              <a:srgbClr val="268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39000" y="3146239"/>
            <a:ext cx="26244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Tahoma"/>
                <a:cs typeface="Tahoma"/>
              </a:rPr>
              <a:t>The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b="1" spc="-145" dirty="0">
                <a:latin typeface="Tahoma"/>
                <a:cs typeface="Tahoma"/>
              </a:rPr>
              <a:t>shebang</a:t>
            </a:r>
            <a:r>
              <a:rPr sz="2000" b="1" spc="-170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is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very </a:t>
            </a:r>
            <a:r>
              <a:rPr sz="2000" dirty="0">
                <a:latin typeface="Tahoma"/>
                <a:cs typeface="Tahoma"/>
              </a:rPr>
              <a:t>first</a:t>
            </a:r>
            <a:r>
              <a:rPr sz="2000" spc="-15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line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-150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a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script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0" dirty="0"/>
              <a:t>Shebang</a:t>
            </a:r>
          </a:p>
        </p:txBody>
      </p:sp>
      <p:sp>
        <p:nvSpPr>
          <p:cNvPr id="3" name="object 3"/>
          <p:cNvSpPr/>
          <p:nvPr/>
        </p:nvSpPr>
        <p:spPr>
          <a:xfrm>
            <a:off x="5009762" y="2067939"/>
            <a:ext cx="139700" cy="304800"/>
          </a:xfrm>
          <a:custGeom>
            <a:avLst/>
            <a:gdLst/>
            <a:ahLst/>
            <a:cxnLst/>
            <a:rect l="l" t="t" r="r" b="b"/>
            <a:pathLst>
              <a:path w="139700" h="304800">
                <a:moveTo>
                  <a:pt x="139595" y="304799"/>
                </a:moveTo>
                <a:lnTo>
                  <a:pt x="0" y="304799"/>
                </a:lnTo>
                <a:lnTo>
                  <a:pt x="0" y="0"/>
                </a:lnTo>
                <a:lnTo>
                  <a:pt x="139595" y="0"/>
                </a:lnTo>
                <a:lnTo>
                  <a:pt x="139595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3692" y="2418459"/>
            <a:ext cx="139700" cy="304800"/>
          </a:xfrm>
          <a:custGeom>
            <a:avLst/>
            <a:gdLst/>
            <a:ahLst/>
            <a:cxnLst/>
            <a:rect l="l" t="t" r="r" b="b"/>
            <a:pathLst>
              <a:path w="139700" h="304800">
                <a:moveTo>
                  <a:pt x="139595" y="304800"/>
                </a:moveTo>
                <a:lnTo>
                  <a:pt x="0" y="304800"/>
                </a:lnTo>
                <a:lnTo>
                  <a:pt x="0" y="0"/>
                </a:lnTo>
                <a:lnTo>
                  <a:pt x="139595" y="0"/>
                </a:lnTo>
                <a:lnTo>
                  <a:pt x="139595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4725" y="1145919"/>
            <a:ext cx="7706359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885">
              <a:lnSpc>
                <a:spcPct val="114999"/>
              </a:lnSpc>
              <a:spcBef>
                <a:spcPts val="1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rgbClr val="202124"/>
                </a:solidFill>
                <a:latin typeface="Tahoma"/>
                <a:cs typeface="Tahoma"/>
              </a:rPr>
              <a:t>shebang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called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sharp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exclamation,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very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first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a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  <a:p>
            <a:pPr marL="12700" marR="94615">
              <a:lnSpc>
                <a:spcPct val="114999"/>
              </a:lnSpc>
              <a:spcBef>
                <a:spcPts val="1200"/>
              </a:spcBef>
            </a:pPr>
            <a:r>
              <a:rPr sz="2000" spc="-1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combination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pound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symbol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(</a:t>
            </a:r>
            <a:r>
              <a:rPr sz="2000" spc="-185" dirty="0">
                <a:solidFill>
                  <a:srgbClr val="202124"/>
                </a:solidFill>
                <a:latin typeface="Consolas"/>
                <a:cs typeface="Consolas"/>
              </a:rPr>
              <a:t>#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)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exclamation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mark (</a:t>
            </a: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!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).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shebang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used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specify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interpreter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given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will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972800" y="3271899"/>
            <a:ext cx="5588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3249039"/>
            <a:ext cx="78593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96965" algn="l"/>
              </a:tabLst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with.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our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case,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indicate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interpreter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(i.e.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3553840"/>
            <a:ext cx="529526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shell).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a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change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shebang.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5351" y="362241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zsh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2239" y="3599560"/>
            <a:ext cx="1804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shell,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simply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0" dirty="0"/>
              <a:t>Shebang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7328534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b="1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45" dirty="0">
                <a:solidFill>
                  <a:srgbClr val="202124"/>
                </a:solidFill>
                <a:latin typeface="Tahoma"/>
                <a:cs typeface="Tahoma"/>
              </a:rPr>
              <a:t>note</a:t>
            </a:r>
            <a:r>
              <a:rPr sz="2000" b="1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about</a:t>
            </a:r>
            <a:r>
              <a:rPr sz="2000" b="1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202124"/>
                </a:solidFill>
                <a:latin typeface="Tahoma"/>
                <a:cs typeface="Tahoma"/>
              </a:rPr>
              <a:t>shebangs: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There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number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different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ways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write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shebang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425" y="2067939"/>
            <a:ext cx="265239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#!/usr/bin/env</a:t>
            </a:r>
            <a:r>
              <a:rPr sz="2000" spc="-204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87846" y="2045080"/>
            <a:ext cx="4292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4752" y="2067939"/>
            <a:ext cx="15360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#!/bin/bash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2548000"/>
            <a:ext cx="71615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recommend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always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former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increases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8396" y="292137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env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725" y="2898519"/>
            <a:ext cx="76930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685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portability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tells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system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resolve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725" y="3249039"/>
            <a:ext cx="7543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wherever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lives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system,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opposed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just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725" y="3599560"/>
            <a:ext cx="18173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looking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inside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9214" y="3622419"/>
            <a:ext cx="5588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/bin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Running</a:t>
            </a:r>
            <a:r>
              <a:rPr spc="160" dirty="0"/>
              <a:t> </a:t>
            </a:r>
            <a:r>
              <a:rPr spc="215" dirty="0"/>
              <a:t>(Your</a:t>
            </a:r>
            <a:r>
              <a:rPr spc="160" dirty="0"/>
              <a:t> </a:t>
            </a:r>
            <a:r>
              <a:rPr spc="295" dirty="0"/>
              <a:t>Very</a:t>
            </a:r>
            <a:r>
              <a:rPr spc="160" dirty="0"/>
              <a:t> </a:t>
            </a:r>
            <a:r>
              <a:rPr spc="300" dirty="0"/>
              <a:t>First</a:t>
            </a:r>
            <a:r>
              <a:rPr spc="160" dirty="0"/>
              <a:t> </a:t>
            </a:r>
            <a:r>
              <a:rPr spc="275" dirty="0"/>
              <a:t>Script)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3577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always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simply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prepending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shell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interpreter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program: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649" y="2020799"/>
            <a:ext cx="1869439" cy="40894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sh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hello.sh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09175" y="2020799"/>
            <a:ext cx="2013585" cy="40894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bash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hello.sh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5199" y="2020799"/>
            <a:ext cx="1869439" cy="40894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zsh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hello.sh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Running</a:t>
            </a:r>
            <a:r>
              <a:rPr spc="160" dirty="0"/>
              <a:t> </a:t>
            </a:r>
            <a:r>
              <a:rPr spc="215" dirty="0"/>
              <a:t>(Your</a:t>
            </a:r>
            <a:r>
              <a:rPr spc="160" dirty="0"/>
              <a:t> </a:t>
            </a:r>
            <a:r>
              <a:rPr spc="295" dirty="0"/>
              <a:t>Very</a:t>
            </a:r>
            <a:r>
              <a:rPr spc="160" dirty="0"/>
              <a:t> </a:t>
            </a:r>
            <a:r>
              <a:rPr spc="300" dirty="0"/>
              <a:t>First</a:t>
            </a:r>
            <a:r>
              <a:rPr spc="160" dirty="0"/>
              <a:t> </a:t>
            </a:r>
            <a:r>
              <a:rPr spc="275" dirty="0"/>
              <a:t>Script)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3577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always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simply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prepending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shell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interpreter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program: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4649" y="2020799"/>
            <a:ext cx="1869439" cy="408940"/>
          </a:xfrm>
          <a:custGeom>
            <a:avLst/>
            <a:gdLst/>
            <a:ahLst/>
            <a:cxnLst/>
            <a:rect l="l" t="t" r="r" b="b"/>
            <a:pathLst>
              <a:path w="1869439" h="408939">
                <a:moveTo>
                  <a:pt x="1868999" y="408599"/>
                </a:moveTo>
                <a:lnTo>
                  <a:pt x="0" y="408599"/>
                </a:lnTo>
                <a:lnTo>
                  <a:pt x="0" y="0"/>
                </a:lnTo>
                <a:lnTo>
                  <a:pt x="1868999" y="0"/>
                </a:lnTo>
                <a:lnTo>
                  <a:pt x="1868999" y="4085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4649" y="1984949"/>
            <a:ext cx="427990" cy="4445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635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00"/>
              </a:spcBef>
            </a:pPr>
            <a:r>
              <a:rPr sz="2000" spc="-25" dirty="0">
                <a:latin typeface="Consolas"/>
                <a:cs typeface="Consolas"/>
              </a:rPr>
              <a:t>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0549" y="1965899"/>
            <a:ext cx="1403350" cy="46355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825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0"/>
              </a:spcBef>
            </a:pPr>
            <a:r>
              <a:rPr sz="2000" spc="-10" dirty="0">
                <a:latin typeface="Consolas"/>
                <a:cs typeface="Consolas"/>
              </a:rPr>
              <a:t>hello.sh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699" y="1965899"/>
            <a:ext cx="5294630" cy="1948180"/>
          </a:xfrm>
          <a:custGeom>
            <a:avLst/>
            <a:gdLst/>
            <a:ahLst/>
            <a:cxnLst/>
            <a:rect l="l" t="t" r="r" b="b"/>
            <a:pathLst>
              <a:path w="5294630" h="1948179">
                <a:moveTo>
                  <a:pt x="0" y="0"/>
                </a:moveTo>
                <a:lnTo>
                  <a:pt x="529799" y="0"/>
                </a:lnTo>
                <a:lnTo>
                  <a:pt x="529799" y="518399"/>
                </a:lnTo>
                <a:lnTo>
                  <a:pt x="0" y="518399"/>
                </a:lnTo>
                <a:lnTo>
                  <a:pt x="0" y="0"/>
                </a:lnTo>
                <a:close/>
              </a:path>
              <a:path w="5294630" h="1948179">
                <a:moveTo>
                  <a:pt x="264899" y="518399"/>
                </a:moveTo>
                <a:lnTo>
                  <a:pt x="2411999" y="1947899"/>
                </a:lnTo>
              </a:path>
              <a:path w="5294630" h="1948179">
                <a:moveTo>
                  <a:pt x="4655999" y="0"/>
                </a:moveTo>
                <a:lnTo>
                  <a:pt x="5294099" y="0"/>
                </a:lnTo>
                <a:lnTo>
                  <a:pt x="5294099" y="518399"/>
                </a:lnTo>
                <a:lnTo>
                  <a:pt x="4655999" y="518399"/>
                </a:lnTo>
                <a:lnTo>
                  <a:pt x="4655999" y="0"/>
                </a:lnTo>
                <a:close/>
              </a:path>
              <a:path w="5294630" h="1948179">
                <a:moveTo>
                  <a:pt x="2616099" y="518399"/>
                </a:moveTo>
                <a:lnTo>
                  <a:pt x="2411799" y="1947899"/>
                </a:lnTo>
              </a:path>
              <a:path w="5294630" h="1948179">
                <a:moveTo>
                  <a:pt x="4975049" y="518399"/>
                </a:moveTo>
                <a:lnTo>
                  <a:pt x="2411849" y="1947899"/>
                </a:lnTo>
              </a:path>
            </a:pathLst>
          </a:custGeom>
          <a:ln w="38099">
            <a:solidFill>
              <a:srgbClr val="268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95350" y="1946849"/>
          <a:ext cx="2107564" cy="518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2688FF"/>
                      </a:solidFill>
                      <a:prstDash val="solid"/>
                    </a:lnL>
                    <a:lnT w="38100">
                      <a:solidFill>
                        <a:srgbClr val="2688FF"/>
                      </a:solidFill>
                      <a:prstDash val="solid"/>
                    </a:lnT>
                    <a:lnB w="38100">
                      <a:solidFill>
                        <a:srgbClr val="2688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20" dirty="0">
                          <a:latin typeface="Consolas"/>
                          <a:cs typeface="Consolas"/>
                        </a:rPr>
                        <a:t>bash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82550" marB="0">
                    <a:lnR w="38100">
                      <a:solidFill>
                        <a:srgbClr val="2688FF"/>
                      </a:solidFill>
                      <a:prstDash val="solid"/>
                    </a:lnR>
                    <a:lnT w="38100">
                      <a:solidFill>
                        <a:srgbClr val="2688FF"/>
                      </a:solidFill>
                      <a:prstDash val="solid"/>
                    </a:lnT>
                    <a:lnB w="38100">
                      <a:solidFill>
                        <a:srgbClr val="2688FF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10" dirty="0">
                          <a:latin typeface="Consolas"/>
                          <a:cs typeface="Consolas"/>
                        </a:rPr>
                        <a:t>hello.sh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2688FF"/>
                      </a:solidFill>
                      <a:prstDash val="solid"/>
                    </a:lnL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025199" y="2020799"/>
            <a:ext cx="1869439" cy="408940"/>
          </a:xfrm>
          <a:custGeom>
            <a:avLst/>
            <a:gdLst/>
            <a:ahLst/>
            <a:cxnLst/>
            <a:rect l="l" t="t" r="r" b="b"/>
            <a:pathLst>
              <a:path w="1869440" h="408939">
                <a:moveTo>
                  <a:pt x="1868999" y="408599"/>
                </a:moveTo>
                <a:lnTo>
                  <a:pt x="0" y="408599"/>
                </a:lnTo>
                <a:lnTo>
                  <a:pt x="0" y="0"/>
                </a:lnTo>
                <a:lnTo>
                  <a:pt x="1868999" y="0"/>
                </a:lnTo>
                <a:lnTo>
                  <a:pt x="1868999" y="4085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25199" y="1984949"/>
            <a:ext cx="561975" cy="4445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635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00"/>
              </a:spcBef>
            </a:pPr>
            <a:r>
              <a:rPr sz="2000" spc="-25" dirty="0">
                <a:latin typeface="Consolas"/>
                <a:cs typeface="Consolas"/>
              </a:rPr>
              <a:t>zsh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5624850" y="1965899"/>
            <a:ext cx="1269365" cy="46355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8255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650"/>
              </a:spcBef>
            </a:pPr>
            <a:r>
              <a:rPr sz="2000" spc="-10" dirty="0">
                <a:latin typeface="Consolas"/>
                <a:cs typeface="Consolas"/>
              </a:rPr>
              <a:t>hello.sh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71550" y="3976665"/>
            <a:ext cx="12274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Tahoma"/>
                <a:cs typeface="Tahoma"/>
              </a:rPr>
              <a:t>Interpreter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Running</a:t>
            </a:r>
            <a:r>
              <a:rPr spc="160" dirty="0"/>
              <a:t> </a:t>
            </a:r>
            <a:r>
              <a:rPr spc="215" dirty="0"/>
              <a:t>(Your</a:t>
            </a:r>
            <a:r>
              <a:rPr spc="160" dirty="0"/>
              <a:t> </a:t>
            </a:r>
            <a:r>
              <a:rPr spc="295" dirty="0"/>
              <a:t>Very</a:t>
            </a:r>
            <a:r>
              <a:rPr spc="160" dirty="0"/>
              <a:t> </a:t>
            </a:r>
            <a:r>
              <a:rPr spc="300" dirty="0"/>
              <a:t>First</a:t>
            </a:r>
            <a:r>
              <a:rPr spc="160" dirty="0"/>
              <a:t> </a:t>
            </a:r>
            <a:r>
              <a:rPr spc="275" dirty="0"/>
              <a:t>Script)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5260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turning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executable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program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running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it.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Running</a:t>
            </a:r>
            <a:r>
              <a:rPr spc="160" dirty="0"/>
              <a:t> </a:t>
            </a:r>
            <a:r>
              <a:rPr spc="215" dirty="0"/>
              <a:t>(Your</a:t>
            </a:r>
            <a:r>
              <a:rPr spc="160" dirty="0"/>
              <a:t> </a:t>
            </a:r>
            <a:r>
              <a:rPr spc="295" dirty="0"/>
              <a:t>Very</a:t>
            </a:r>
            <a:r>
              <a:rPr spc="160" dirty="0"/>
              <a:t> </a:t>
            </a:r>
            <a:r>
              <a:rPr spc="300" dirty="0"/>
              <a:t>First</a:t>
            </a:r>
            <a:r>
              <a:rPr spc="160" dirty="0"/>
              <a:t> </a:t>
            </a:r>
            <a:r>
              <a:rPr spc="275" dirty="0"/>
              <a:t>Script)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70393" y="4768069"/>
            <a:ext cx="1778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16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5260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turning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executable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program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running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it.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9688" y="2067939"/>
            <a:ext cx="6985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chmod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045080"/>
            <a:ext cx="77139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03290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First,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turn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program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executable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(change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mode):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200" y="2411900"/>
            <a:ext cx="2568575" cy="42100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76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75"/>
              </a:spcBef>
            </a:pPr>
            <a:r>
              <a:rPr sz="2000" dirty="0">
                <a:latin typeface="Consolas"/>
                <a:cs typeface="Consolas"/>
              </a:rPr>
              <a:t>chmod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+x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hello.sh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Running</a:t>
            </a:r>
            <a:r>
              <a:rPr spc="160" dirty="0"/>
              <a:t> </a:t>
            </a:r>
            <a:r>
              <a:rPr spc="215" dirty="0"/>
              <a:t>(Your</a:t>
            </a:r>
            <a:r>
              <a:rPr spc="160" dirty="0"/>
              <a:t> </a:t>
            </a:r>
            <a:r>
              <a:rPr spc="295" dirty="0"/>
              <a:t>Very</a:t>
            </a:r>
            <a:r>
              <a:rPr spc="160" dirty="0"/>
              <a:t> </a:t>
            </a:r>
            <a:r>
              <a:rPr spc="300" dirty="0"/>
              <a:t>First</a:t>
            </a:r>
            <a:r>
              <a:rPr spc="160" dirty="0"/>
              <a:t> </a:t>
            </a:r>
            <a:r>
              <a:rPr spc="275" dirty="0"/>
              <a:t>Script)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5260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turning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executable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program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running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it.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9688" y="2067939"/>
            <a:ext cx="6985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chmod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045080"/>
            <a:ext cx="77139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03290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First,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turn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program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executable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(change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mode):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200" y="2411900"/>
            <a:ext cx="2568575" cy="421005"/>
          </a:xfrm>
          <a:custGeom>
            <a:avLst/>
            <a:gdLst/>
            <a:ahLst/>
            <a:cxnLst/>
            <a:rect l="l" t="t" r="r" b="b"/>
            <a:pathLst>
              <a:path w="2568575" h="421005">
                <a:moveTo>
                  <a:pt x="2568299" y="420599"/>
                </a:moveTo>
                <a:lnTo>
                  <a:pt x="0" y="420599"/>
                </a:lnTo>
                <a:lnTo>
                  <a:pt x="0" y="0"/>
                </a:lnTo>
                <a:lnTo>
                  <a:pt x="2568299" y="0"/>
                </a:lnTo>
                <a:lnTo>
                  <a:pt x="2568299" y="4205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3225" y="2446940"/>
            <a:ext cx="5342890" cy="127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nsolas"/>
                <a:cs typeface="Consolas"/>
              </a:rPr>
              <a:t>chmod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+x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hello.sh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000">
              <a:latin typeface="Consolas"/>
              <a:cs typeface="Consolas"/>
            </a:endParaRPr>
          </a:p>
          <a:p>
            <a:pPr marL="1958339">
              <a:lnSpc>
                <a:spcPct val="100000"/>
              </a:lnSpc>
            </a:pPr>
            <a:r>
              <a:rPr sz="2000" spc="-30" dirty="0">
                <a:latin typeface="Tahoma"/>
                <a:cs typeface="Tahoma"/>
              </a:rPr>
              <a:t>Makes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19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program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e</a:t>
            </a:r>
            <a:r>
              <a:rPr sz="2000" b="1" spc="-10" dirty="0">
                <a:latin typeface="Tahoma"/>
                <a:cs typeface="Tahoma"/>
              </a:rPr>
              <a:t>x</a:t>
            </a:r>
            <a:r>
              <a:rPr sz="2000" spc="-10" dirty="0">
                <a:latin typeface="Tahoma"/>
                <a:cs typeface="Tahoma"/>
              </a:rPr>
              <a:t>ecutable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3725" y="2444450"/>
            <a:ext cx="1082675" cy="1135380"/>
          </a:xfrm>
          <a:custGeom>
            <a:avLst/>
            <a:gdLst/>
            <a:ahLst/>
            <a:cxnLst/>
            <a:rect l="l" t="t" r="r" b="b"/>
            <a:pathLst>
              <a:path w="1082675" h="1135379">
                <a:moveTo>
                  <a:pt x="0" y="0"/>
                </a:moveTo>
                <a:lnTo>
                  <a:pt x="411299" y="0"/>
                </a:lnTo>
                <a:lnTo>
                  <a:pt x="411299" y="355499"/>
                </a:lnTo>
                <a:lnTo>
                  <a:pt x="0" y="355499"/>
                </a:lnTo>
                <a:lnTo>
                  <a:pt x="0" y="0"/>
                </a:lnTo>
                <a:close/>
              </a:path>
              <a:path w="1082675" h="1135379">
                <a:moveTo>
                  <a:pt x="205649" y="355499"/>
                </a:moveTo>
                <a:lnTo>
                  <a:pt x="1082249" y="1134899"/>
                </a:lnTo>
              </a:path>
            </a:pathLst>
          </a:custGeom>
          <a:ln w="38099">
            <a:solidFill>
              <a:srgbClr val="268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Running</a:t>
            </a:r>
            <a:r>
              <a:rPr spc="160" dirty="0"/>
              <a:t> </a:t>
            </a:r>
            <a:r>
              <a:rPr spc="215" dirty="0"/>
              <a:t>(Your</a:t>
            </a:r>
            <a:r>
              <a:rPr spc="160" dirty="0"/>
              <a:t> </a:t>
            </a:r>
            <a:r>
              <a:rPr spc="295" dirty="0"/>
              <a:t>Very</a:t>
            </a:r>
            <a:r>
              <a:rPr spc="160" dirty="0"/>
              <a:t> </a:t>
            </a:r>
            <a:r>
              <a:rPr spc="300" dirty="0"/>
              <a:t>First</a:t>
            </a:r>
            <a:r>
              <a:rPr spc="160" dirty="0"/>
              <a:t> </a:t>
            </a:r>
            <a:r>
              <a:rPr spc="275" dirty="0"/>
              <a:t>Script)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5260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turning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executable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program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running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it.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9688" y="2067939"/>
            <a:ext cx="6985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chmod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045080"/>
            <a:ext cx="77139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03290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First,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turn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program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executable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(change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mode):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050919"/>
            <a:ext cx="24828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program: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200" y="2411900"/>
            <a:ext cx="2568575" cy="42100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76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75"/>
              </a:spcBef>
            </a:pPr>
            <a:r>
              <a:rPr sz="2000" dirty="0">
                <a:latin typeface="Consolas"/>
                <a:cs typeface="Consolas"/>
              </a:rPr>
              <a:t>chmod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+x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hello.sh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200" y="3417625"/>
            <a:ext cx="1596390" cy="42100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76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75"/>
              </a:spcBef>
            </a:pPr>
            <a:r>
              <a:rPr sz="2000" spc="-10" dirty="0">
                <a:latin typeface="Consolas"/>
                <a:cs typeface="Consolas"/>
              </a:rPr>
              <a:t>./hello.sh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70" dirty="0"/>
              <a:t>Variables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4138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variables,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1577550"/>
            <a:ext cx="991869" cy="42799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275"/>
              </a:spcBef>
            </a:pPr>
            <a:r>
              <a:rPr sz="2200" spc="-10" dirty="0">
                <a:latin typeface="Consolas"/>
                <a:cs typeface="Consolas"/>
              </a:rPr>
              <a:t>x=foo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70" dirty="0"/>
              <a:t>Variables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4138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variables,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197479"/>
            <a:ext cx="5389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access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x</a:t>
            </a:r>
            <a:r>
              <a:rPr sz="2000" spc="-650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77550"/>
            <a:ext cx="991869" cy="42799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275"/>
              </a:spcBef>
            </a:pPr>
            <a:r>
              <a:rPr sz="2200" spc="-10" dirty="0">
                <a:latin typeface="Consolas"/>
                <a:cs typeface="Consolas"/>
              </a:rPr>
              <a:t>x=foo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924" y="2571750"/>
            <a:ext cx="494030" cy="42799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3492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</a:pPr>
            <a:r>
              <a:rPr sz="2200" spc="-25" dirty="0">
                <a:latin typeface="Consolas"/>
                <a:cs typeface="Consolas"/>
              </a:rPr>
              <a:t>$x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7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4138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variables,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197479"/>
            <a:ext cx="5389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access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x</a:t>
            </a:r>
            <a:r>
              <a:rPr sz="2000" spc="-650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706239"/>
            <a:ext cx="66909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13810" algn="l"/>
              </a:tabLst>
            </a:pPr>
            <a:r>
              <a:rPr sz="2000" b="1" spc="-114" dirty="0">
                <a:solidFill>
                  <a:srgbClr val="FF0000"/>
                </a:solidFill>
                <a:latin typeface="Tahoma"/>
                <a:cs typeface="Tahoma"/>
              </a:rPr>
              <a:t>Note:</a:t>
            </a:r>
            <a:r>
              <a:rPr sz="2000" b="1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cannot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(with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spaces)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because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01764" y="4079619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418787" y="304799"/>
                </a:moveTo>
                <a:lnTo>
                  <a:pt x="0" y="304799"/>
                </a:lnTo>
                <a:lnTo>
                  <a:pt x="0" y="0"/>
                </a:lnTo>
                <a:lnTo>
                  <a:pt x="418787" y="0"/>
                </a:lnTo>
                <a:lnTo>
                  <a:pt x="418787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4056759"/>
            <a:ext cx="41363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interpreted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trying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program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555793" y="407961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x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33489" y="4056759"/>
            <a:ext cx="22872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arguments: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57162" y="407961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=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34857" y="4056759"/>
            <a:ext cx="9690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foo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924" y="1577550"/>
            <a:ext cx="991869" cy="42799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275"/>
              </a:spcBef>
            </a:pPr>
            <a:r>
              <a:rPr sz="2200" spc="-10" dirty="0">
                <a:latin typeface="Consolas"/>
                <a:cs typeface="Consolas"/>
              </a:rPr>
              <a:t>x=foo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924" y="2571750"/>
            <a:ext cx="494030" cy="42799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3492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</a:pPr>
            <a:r>
              <a:rPr sz="2200" spc="-25" dirty="0">
                <a:latin typeface="Consolas"/>
                <a:cs typeface="Consolas"/>
              </a:rPr>
              <a:t>$x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19849" y="3738250"/>
            <a:ext cx="1304290" cy="34607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2595"/>
              </a:lnSpc>
            </a:pPr>
            <a:r>
              <a:rPr sz="2200" dirty="0">
                <a:latin typeface="Consolas"/>
                <a:cs typeface="Consolas"/>
              </a:rPr>
              <a:t>x</a:t>
            </a:r>
            <a:r>
              <a:rPr sz="2200" spc="-2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=</a:t>
            </a:r>
            <a:r>
              <a:rPr sz="2200" spc="-15" dirty="0">
                <a:latin typeface="Consolas"/>
                <a:cs typeface="Consolas"/>
              </a:rPr>
              <a:t> </a:t>
            </a:r>
            <a:r>
              <a:rPr sz="2200" spc="-25" dirty="0">
                <a:latin typeface="Consolas"/>
                <a:cs typeface="Consolas"/>
              </a:rPr>
              <a:t>foo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75" dirty="0"/>
              <a:t>Strings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661162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Next,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strings.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string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literal,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will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single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quotes: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2143949"/>
            <a:ext cx="897255" cy="42799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275"/>
              </a:spcBef>
            </a:pPr>
            <a:r>
              <a:rPr sz="2200" spc="-20" dirty="0">
                <a:latin typeface="Consolas"/>
                <a:cs typeface="Consolas"/>
              </a:rPr>
              <a:t>'$x'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75" dirty="0"/>
              <a:t>Strings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661162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Next,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strings.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string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literal,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will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single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quotes: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654679"/>
            <a:ext cx="774445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string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allows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substitution,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will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double quotes: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2143949"/>
            <a:ext cx="897255" cy="42799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275"/>
              </a:spcBef>
            </a:pPr>
            <a:r>
              <a:rPr sz="2200" spc="-20" dirty="0">
                <a:latin typeface="Consolas"/>
                <a:cs typeface="Consolas"/>
              </a:rPr>
              <a:t>'$x'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924" y="3456025"/>
            <a:ext cx="897255" cy="42799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275"/>
              </a:spcBef>
            </a:pPr>
            <a:r>
              <a:rPr sz="2200" spc="-20" dirty="0">
                <a:latin typeface="Consolas"/>
                <a:cs typeface="Consolas"/>
              </a:rPr>
              <a:t>"$x"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75" dirty="0"/>
              <a:t>Strings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64362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Here's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difference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behavior: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650" y="1715449"/>
            <a:ext cx="3667760" cy="105791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 marR="2319020">
              <a:lnSpc>
                <a:spcPct val="100000"/>
              </a:lnSpc>
              <a:spcBef>
                <a:spcPts val="219"/>
              </a:spcBef>
            </a:pPr>
            <a:r>
              <a:rPr sz="2000" spc="-10" dirty="0">
                <a:latin typeface="Consolas"/>
                <a:cs typeface="Consolas"/>
              </a:rPr>
              <a:t>x=foo </a:t>
            </a: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'$x'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solidFill>
                  <a:srgbClr val="B7B7B7"/>
                </a:solidFill>
                <a:latin typeface="Consolas"/>
                <a:cs typeface="Consolas"/>
              </a:rPr>
              <a:t>#</a:t>
            </a:r>
            <a:r>
              <a:rPr sz="2000" spc="-60" dirty="0">
                <a:solidFill>
                  <a:srgbClr val="B7B7B7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B7B7B7"/>
                </a:solidFill>
                <a:latin typeface="Consolas"/>
                <a:cs typeface="Consolas"/>
              </a:rPr>
              <a:t>prints</a:t>
            </a:r>
            <a:r>
              <a:rPr sz="2000" spc="-55" dirty="0">
                <a:solidFill>
                  <a:srgbClr val="B7B7B7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B7B7B7"/>
                </a:solidFill>
                <a:latin typeface="Consolas"/>
                <a:cs typeface="Consolas"/>
              </a:rPr>
              <a:t>$x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8075" y="1715449"/>
            <a:ext cx="3667760" cy="105791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 marR="2319020">
              <a:lnSpc>
                <a:spcPct val="100000"/>
              </a:lnSpc>
              <a:spcBef>
                <a:spcPts val="219"/>
              </a:spcBef>
            </a:pPr>
            <a:r>
              <a:rPr sz="2000" spc="-10" dirty="0">
                <a:latin typeface="Consolas"/>
                <a:cs typeface="Consolas"/>
              </a:rPr>
              <a:t>x=foo </a:t>
            </a: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"$x"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solidFill>
                  <a:srgbClr val="B7B7B7"/>
                </a:solidFill>
                <a:latin typeface="Consolas"/>
                <a:cs typeface="Consolas"/>
              </a:rPr>
              <a:t>#</a:t>
            </a:r>
            <a:r>
              <a:rPr sz="2000" spc="-60" dirty="0">
                <a:solidFill>
                  <a:srgbClr val="B7B7B7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B7B7B7"/>
                </a:solidFill>
                <a:latin typeface="Consolas"/>
                <a:cs typeface="Consolas"/>
              </a:rPr>
              <a:t>prints</a:t>
            </a:r>
            <a:r>
              <a:rPr sz="2000" spc="-55" dirty="0">
                <a:solidFill>
                  <a:srgbClr val="B7B7B7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B7B7B7"/>
                </a:solidFill>
                <a:latin typeface="Consolas"/>
                <a:cs typeface="Consolas"/>
              </a:rPr>
              <a:t>foo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Your</a:t>
            </a:r>
            <a:r>
              <a:rPr spc="160" dirty="0"/>
              <a:t> </a:t>
            </a:r>
            <a:r>
              <a:rPr spc="290" dirty="0"/>
              <a:t>Very</a:t>
            </a:r>
            <a:r>
              <a:rPr spc="165" dirty="0"/>
              <a:t> </a:t>
            </a:r>
            <a:r>
              <a:rPr spc="300" dirty="0"/>
              <a:t>First</a:t>
            </a:r>
            <a:r>
              <a:rPr spc="165" dirty="0"/>
              <a:t> </a:t>
            </a:r>
            <a:r>
              <a:rPr spc="310" dirty="0"/>
              <a:t>Script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5934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hello.sh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1694875"/>
            <a:ext cx="7677784" cy="135128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 marR="437642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greeting="Hello</a:t>
            </a:r>
            <a:r>
              <a:rPr sz="2000" spc="-24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world!" </a:t>
            </a: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$greeting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2419226" y="156501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1" y="304799"/>
                </a:moveTo>
                <a:lnTo>
                  <a:pt x="0" y="304799"/>
                </a:lnTo>
                <a:lnTo>
                  <a:pt x="0" y="0"/>
                </a:lnTo>
                <a:lnTo>
                  <a:pt x="279191" y="0"/>
                </a:lnTo>
                <a:lnTo>
                  <a:pt x="279191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6227" y="1565019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418787" y="304799"/>
                </a:moveTo>
                <a:lnTo>
                  <a:pt x="0" y="304799"/>
                </a:lnTo>
                <a:lnTo>
                  <a:pt x="0" y="0"/>
                </a:lnTo>
                <a:lnTo>
                  <a:pt x="418787" y="0"/>
                </a:lnTo>
                <a:lnTo>
                  <a:pt x="418787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25" y="156501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799"/>
                </a:moveTo>
                <a:lnTo>
                  <a:pt x="0" y="304799"/>
                </a:lnTo>
                <a:lnTo>
                  <a:pt x="0" y="0"/>
                </a:lnTo>
                <a:lnTo>
                  <a:pt x="697979" y="0"/>
                </a:lnTo>
                <a:lnTo>
                  <a:pt x="697979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40" y="1565019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58383" y="304799"/>
                </a:moveTo>
                <a:lnTo>
                  <a:pt x="0" y="304799"/>
                </a:lnTo>
                <a:lnTo>
                  <a:pt x="0" y="0"/>
                </a:lnTo>
                <a:lnTo>
                  <a:pt x="558383" y="0"/>
                </a:lnTo>
                <a:lnTo>
                  <a:pt x="558383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1145919"/>
            <a:ext cx="77260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Like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programming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languages,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control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flow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directives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if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Consolas"/>
                <a:cs typeface="Consolas"/>
              </a:rPr>
              <a:t>for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Consolas"/>
                <a:cs typeface="Consolas"/>
              </a:rPr>
              <a:t>while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case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70393" y="4768069"/>
            <a:ext cx="1778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26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2419226" y="156501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1" y="304799"/>
                </a:moveTo>
                <a:lnTo>
                  <a:pt x="0" y="304799"/>
                </a:lnTo>
                <a:lnTo>
                  <a:pt x="0" y="0"/>
                </a:lnTo>
                <a:lnTo>
                  <a:pt x="279191" y="0"/>
                </a:lnTo>
                <a:lnTo>
                  <a:pt x="279191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6227" y="1565019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418787" y="304799"/>
                </a:moveTo>
                <a:lnTo>
                  <a:pt x="0" y="304799"/>
                </a:lnTo>
                <a:lnTo>
                  <a:pt x="0" y="0"/>
                </a:lnTo>
                <a:lnTo>
                  <a:pt x="418787" y="0"/>
                </a:lnTo>
                <a:lnTo>
                  <a:pt x="418787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25" y="156501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799"/>
                </a:moveTo>
                <a:lnTo>
                  <a:pt x="0" y="304799"/>
                </a:lnTo>
                <a:lnTo>
                  <a:pt x="0" y="0"/>
                </a:lnTo>
                <a:lnTo>
                  <a:pt x="697979" y="0"/>
                </a:lnTo>
                <a:lnTo>
                  <a:pt x="697979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40" y="1565019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58383" y="304799"/>
                </a:moveTo>
                <a:lnTo>
                  <a:pt x="0" y="304799"/>
                </a:lnTo>
                <a:lnTo>
                  <a:pt x="0" y="0"/>
                </a:lnTo>
                <a:lnTo>
                  <a:pt x="558383" y="0"/>
                </a:lnTo>
                <a:lnTo>
                  <a:pt x="558383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1145919"/>
            <a:ext cx="77260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Like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programming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languages,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control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flow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directives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if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Consolas"/>
                <a:cs typeface="Consolas"/>
              </a:rPr>
              <a:t>for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Consolas"/>
                <a:cs typeface="Consolas"/>
              </a:rPr>
              <a:t>while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case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12924" y="2097475"/>
            <a:ext cx="7677784" cy="1887696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r>
              <a:rPr lang="en-US" sz="2000" spc="-50" dirty="0">
                <a:latin typeface="Consolas"/>
                <a:cs typeface="Consolas"/>
              </a:rPr>
              <a:t> ;</a:t>
            </a:r>
            <a:endParaRPr sz="20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then</a:t>
            </a:r>
            <a:endParaRPr sz="2000" dirty="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20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do</a:t>
            </a:r>
            <a:r>
              <a:rPr sz="20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999999"/>
                </a:solidFill>
                <a:latin typeface="Consolas"/>
                <a:cs typeface="Consolas"/>
              </a:rPr>
              <a:t>something</a:t>
            </a:r>
            <a:endParaRPr sz="20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2419226" y="156501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1" y="304799"/>
                </a:moveTo>
                <a:lnTo>
                  <a:pt x="0" y="304799"/>
                </a:lnTo>
                <a:lnTo>
                  <a:pt x="0" y="0"/>
                </a:lnTo>
                <a:lnTo>
                  <a:pt x="279191" y="0"/>
                </a:lnTo>
                <a:lnTo>
                  <a:pt x="279191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6227" y="1565019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418787" y="304799"/>
                </a:moveTo>
                <a:lnTo>
                  <a:pt x="0" y="304799"/>
                </a:lnTo>
                <a:lnTo>
                  <a:pt x="0" y="0"/>
                </a:lnTo>
                <a:lnTo>
                  <a:pt x="418787" y="0"/>
                </a:lnTo>
                <a:lnTo>
                  <a:pt x="418787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25" y="156501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799"/>
                </a:moveTo>
                <a:lnTo>
                  <a:pt x="0" y="304799"/>
                </a:lnTo>
                <a:lnTo>
                  <a:pt x="0" y="0"/>
                </a:lnTo>
                <a:lnTo>
                  <a:pt x="697979" y="0"/>
                </a:lnTo>
                <a:lnTo>
                  <a:pt x="697979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40" y="1565019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58383" y="304799"/>
                </a:moveTo>
                <a:lnTo>
                  <a:pt x="0" y="304799"/>
                </a:lnTo>
                <a:lnTo>
                  <a:pt x="0" y="0"/>
                </a:lnTo>
                <a:lnTo>
                  <a:pt x="558383" y="0"/>
                </a:lnTo>
                <a:lnTo>
                  <a:pt x="558383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1145919"/>
            <a:ext cx="77260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Like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programming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languages,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control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flow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directives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if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Consolas"/>
                <a:cs typeface="Consolas"/>
              </a:rPr>
              <a:t>for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Consolas"/>
                <a:cs typeface="Consolas"/>
              </a:rPr>
              <a:t>while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case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12924" y="2097475"/>
            <a:ext cx="7677784" cy="2195473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num=101</a:t>
            </a:r>
            <a:endParaRPr sz="2000" dirty="0">
              <a:latin typeface="Consolas"/>
              <a:cs typeface="Consolas"/>
            </a:endParaRPr>
          </a:p>
          <a:p>
            <a:pPr marL="85725" marR="493395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$num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100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r>
              <a:rPr lang="en-US" sz="2000" spc="-50" dirty="0">
                <a:latin typeface="Consolas"/>
                <a:cs typeface="Consolas"/>
              </a:rPr>
              <a:t>;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 dirty="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"That's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big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number!"</a:t>
            </a:r>
            <a:endParaRPr sz="20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2419226" y="156501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1" y="304799"/>
                </a:moveTo>
                <a:lnTo>
                  <a:pt x="0" y="304799"/>
                </a:lnTo>
                <a:lnTo>
                  <a:pt x="0" y="0"/>
                </a:lnTo>
                <a:lnTo>
                  <a:pt x="279191" y="0"/>
                </a:lnTo>
                <a:lnTo>
                  <a:pt x="279191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6227" y="1565019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418787" y="304799"/>
                </a:moveTo>
                <a:lnTo>
                  <a:pt x="0" y="304799"/>
                </a:lnTo>
                <a:lnTo>
                  <a:pt x="0" y="0"/>
                </a:lnTo>
                <a:lnTo>
                  <a:pt x="418787" y="0"/>
                </a:lnTo>
                <a:lnTo>
                  <a:pt x="418787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25" y="156501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799"/>
                </a:moveTo>
                <a:lnTo>
                  <a:pt x="0" y="304799"/>
                </a:lnTo>
                <a:lnTo>
                  <a:pt x="0" y="0"/>
                </a:lnTo>
                <a:lnTo>
                  <a:pt x="697979" y="0"/>
                </a:lnTo>
                <a:lnTo>
                  <a:pt x="697979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40" y="1565019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58383" y="304799"/>
                </a:moveTo>
                <a:lnTo>
                  <a:pt x="0" y="304799"/>
                </a:lnTo>
                <a:lnTo>
                  <a:pt x="0" y="0"/>
                </a:lnTo>
                <a:lnTo>
                  <a:pt x="558383" y="0"/>
                </a:lnTo>
                <a:lnTo>
                  <a:pt x="558383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1145919"/>
            <a:ext cx="77260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Like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programming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languages,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control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flow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directives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if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Consolas"/>
                <a:cs typeface="Consolas"/>
              </a:rPr>
              <a:t>for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Consolas"/>
                <a:cs typeface="Consolas"/>
              </a:rPr>
              <a:t>while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case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12924" y="2097475"/>
            <a:ext cx="7677784" cy="2336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num=101</a:t>
            </a:r>
            <a:endParaRPr sz="2000">
              <a:latin typeface="Consolas"/>
              <a:cs typeface="Consolas"/>
            </a:endParaRPr>
          </a:p>
          <a:p>
            <a:pPr marL="85725" marR="2005964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$num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100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]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&amp;&amp;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$num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lt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1000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"That's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big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(but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not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too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big)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number!"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412924" y="1145249"/>
            <a:ext cx="7677784" cy="3498850"/>
          </a:xfrm>
          <a:custGeom>
            <a:avLst/>
            <a:gdLst/>
            <a:ahLst/>
            <a:cxnLst/>
            <a:rect l="l" t="t" r="r" b="b"/>
            <a:pathLst>
              <a:path w="7677784" h="3498850">
                <a:moveTo>
                  <a:pt x="7677599" y="3498599"/>
                </a:moveTo>
                <a:lnTo>
                  <a:pt x="0" y="3498599"/>
                </a:lnTo>
                <a:lnTo>
                  <a:pt x="0" y="0"/>
                </a:lnTo>
                <a:lnTo>
                  <a:pt x="7677599" y="0"/>
                </a:lnTo>
                <a:lnTo>
                  <a:pt x="7677599" y="34985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5950" y="1160490"/>
            <a:ext cx="494538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12700" marR="2414270" indent="457200">
              <a:lnSpc>
                <a:spcPct val="100000"/>
              </a:lnSpc>
            </a:pP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20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do</a:t>
            </a:r>
            <a:r>
              <a:rPr sz="20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999999"/>
                </a:solidFill>
                <a:latin typeface="Consolas"/>
                <a:cs typeface="Consolas"/>
              </a:rPr>
              <a:t>something </a:t>
            </a:r>
            <a:r>
              <a:rPr sz="2000" dirty="0">
                <a:latin typeface="Consolas"/>
                <a:cs typeface="Consolas"/>
              </a:rPr>
              <a:t>elif</a:t>
            </a:r>
            <a:r>
              <a:rPr sz="2000" spc="-7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7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7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12700" marR="1817370" indent="457200">
              <a:lnSpc>
                <a:spcPct val="100000"/>
              </a:lnSpc>
            </a:pP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20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do</a:t>
            </a:r>
            <a:r>
              <a:rPr sz="20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something</a:t>
            </a:r>
            <a:r>
              <a:rPr sz="20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999999"/>
                </a:solidFill>
                <a:latin typeface="Consolas"/>
                <a:cs typeface="Consolas"/>
              </a:rPr>
              <a:t>else </a:t>
            </a:r>
            <a:r>
              <a:rPr sz="2000" spc="-20" dirty="0">
                <a:latin typeface="Consolas"/>
                <a:cs typeface="Consolas"/>
              </a:rPr>
              <a:t>else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2000" spc="-80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do</a:t>
            </a:r>
            <a:r>
              <a:rPr sz="2000" spc="-7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something</a:t>
            </a:r>
            <a:r>
              <a:rPr sz="2000" spc="-7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totally</a:t>
            </a:r>
            <a:r>
              <a:rPr sz="2000" spc="-7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999999"/>
                </a:solidFill>
                <a:latin typeface="Consolas"/>
                <a:cs typeface="Consolas"/>
              </a:rPr>
              <a:t>different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401575" y="962074"/>
            <a:ext cx="7677784" cy="3806825"/>
          </a:xfrm>
          <a:custGeom>
            <a:avLst/>
            <a:gdLst/>
            <a:ahLst/>
            <a:cxnLst/>
            <a:rect l="l" t="t" r="r" b="b"/>
            <a:pathLst>
              <a:path w="7677784" h="3806825">
                <a:moveTo>
                  <a:pt x="7677599" y="3806699"/>
                </a:moveTo>
                <a:lnTo>
                  <a:pt x="0" y="3806699"/>
                </a:lnTo>
                <a:lnTo>
                  <a:pt x="0" y="0"/>
                </a:lnTo>
                <a:lnTo>
                  <a:pt x="7677599" y="0"/>
                </a:lnTo>
                <a:lnTo>
                  <a:pt x="7677599" y="38066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600" y="977315"/>
            <a:ext cx="4526915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num=101</a:t>
            </a:r>
            <a:endParaRPr sz="2000">
              <a:latin typeface="Consolas"/>
              <a:cs typeface="Consolas"/>
            </a:endParaRPr>
          </a:p>
          <a:p>
            <a:pPr marL="12700" marR="1717039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$num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1000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12700" marR="144145" indent="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"That's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huge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number!" </a:t>
            </a:r>
            <a:r>
              <a:rPr sz="2000" dirty="0">
                <a:latin typeface="Consolas"/>
                <a:cs typeface="Consolas"/>
              </a:rPr>
              <a:t>elif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$num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100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12700" marR="283845" indent="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"That's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big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number!" </a:t>
            </a:r>
            <a:r>
              <a:rPr sz="2000" spc="-20" dirty="0">
                <a:latin typeface="Consolas"/>
                <a:cs typeface="Consolas"/>
              </a:rPr>
              <a:t>else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"That's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small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number."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2419226" y="156501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1" y="304799"/>
                </a:moveTo>
                <a:lnTo>
                  <a:pt x="0" y="304799"/>
                </a:lnTo>
                <a:lnTo>
                  <a:pt x="0" y="0"/>
                </a:lnTo>
                <a:lnTo>
                  <a:pt x="279191" y="0"/>
                </a:lnTo>
                <a:lnTo>
                  <a:pt x="279191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6227" y="1565019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418787" y="304799"/>
                </a:moveTo>
                <a:lnTo>
                  <a:pt x="0" y="304799"/>
                </a:lnTo>
                <a:lnTo>
                  <a:pt x="0" y="0"/>
                </a:lnTo>
                <a:lnTo>
                  <a:pt x="418787" y="0"/>
                </a:lnTo>
                <a:lnTo>
                  <a:pt x="418787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25" y="156501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799"/>
                </a:moveTo>
                <a:lnTo>
                  <a:pt x="0" y="304799"/>
                </a:lnTo>
                <a:lnTo>
                  <a:pt x="0" y="0"/>
                </a:lnTo>
                <a:lnTo>
                  <a:pt x="697979" y="0"/>
                </a:lnTo>
                <a:lnTo>
                  <a:pt x="697979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40" y="1565019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58383" y="304799"/>
                </a:moveTo>
                <a:lnTo>
                  <a:pt x="0" y="304799"/>
                </a:lnTo>
                <a:lnTo>
                  <a:pt x="0" y="0"/>
                </a:lnTo>
                <a:lnTo>
                  <a:pt x="558383" y="0"/>
                </a:lnTo>
                <a:lnTo>
                  <a:pt x="558383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1145919"/>
            <a:ext cx="77260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Like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programming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languages,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control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flow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directives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if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Consolas"/>
                <a:cs typeface="Consolas"/>
              </a:rPr>
              <a:t>for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Consolas"/>
                <a:cs typeface="Consolas"/>
              </a:rPr>
              <a:t>while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case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12924" y="2097475"/>
            <a:ext cx="7677784" cy="2336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 marR="493395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while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5" dirty="0">
                <a:latin typeface="Consolas"/>
                <a:cs typeface="Consolas"/>
              </a:rPr>
              <a:t>do</a:t>
            </a:r>
            <a:endParaRPr sz="2000">
              <a:latin typeface="Consolas"/>
              <a:cs typeface="Consolas"/>
            </a:endParaRPr>
          </a:p>
          <a:p>
            <a:pPr marL="85725" marR="5174615" indent="457200">
              <a:lnSpc>
                <a:spcPct val="100000"/>
              </a:lnSpc>
            </a:pP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20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do</a:t>
            </a:r>
            <a:r>
              <a:rPr sz="20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999999"/>
                </a:solidFill>
                <a:latin typeface="Consolas"/>
                <a:cs typeface="Consolas"/>
              </a:rPr>
              <a:t>something </a:t>
            </a:r>
            <a:r>
              <a:rPr sz="2000" spc="-20" dirty="0">
                <a:latin typeface="Consolas"/>
                <a:cs typeface="Consolas"/>
              </a:rPr>
              <a:t>done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2419226" y="156501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1" y="304799"/>
                </a:moveTo>
                <a:lnTo>
                  <a:pt x="0" y="304799"/>
                </a:lnTo>
                <a:lnTo>
                  <a:pt x="0" y="0"/>
                </a:lnTo>
                <a:lnTo>
                  <a:pt x="279191" y="0"/>
                </a:lnTo>
                <a:lnTo>
                  <a:pt x="279191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6227" y="1565019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418787" y="304799"/>
                </a:moveTo>
                <a:lnTo>
                  <a:pt x="0" y="304799"/>
                </a:lnTo>
                <a:lnTo>
                  <a:pt x="0" y="0"/>
                </a:lnTo>
                <a:lnTo>
                  <a:pt x="418787" y="0"/>
                </a:lnTo>
                <a:lnTo>
                  <a:pt x="418787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25" y="156501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799"/>
                </a:moveTo>
                <a:lnTo>
                  <a:pt x="0" y="304799"/>
                </a:lnTo>
                <a:lnTo>
                  <a:pt x="0" y="0"/>
                </a:lnTo>
                <a:lnTo>
                  <a:pt x="697979" y="0"/>
                </a:lnTo>
                <a:lnTo>
                  <a:pt x="697979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40" y="1565019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58383" y="304799"/>
                </a:moveTo>
                <a:lnTo>
                  <a:pt x="0" y="304799"/>
                </a:lnTo>
                <a:lnTo>
                  <a:pt x="0" y="0"/>
                </a:lnTo>
                <a:lnTo>
                  <a:pt x="558383" y="0"/>
                </a:lnTo>
                <a:lnTo>
                  <a:pt x="558383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1145919"/>
            <a:ext cx="77260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Like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programming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languages,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control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flow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directives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if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Consolas"/>
                <a:cs typeface="Consolas"/>
              </a:rPr>
              <a:t>for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Consolas"/>
                <a:cs typeface="Consolas"/>
              </a:rPr>
              <a:t>while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case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12924" y="2097475"/>
            <a:ext cx="7677784" cy="256921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num=0</a:t>
            </a:r>
            <a:endParaRPr sz="2000" dirty="0">
              <a:latin typeface="Consolas"/>
              <a:cs typeface="Consolas"/>
            </a:endParaRPr>
          </a:p>
          <a:p>
            <a:pPr marL="85725" marR="451612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while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$num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lt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100</a:t>
            </a:r>
            <a:r>
              <a:rPr sz="2000" spc="-50" dirty="0">
                <a:latin typeface="Consolas"/>
                <a:cs typeface="Consolas"/>
              </a:rPr>
              <a:t> ] </a:t>
            </a:r>
            <a:r>
              <a:rPr sz="2000" spc="-25" dirty="0">
                <a:latin typeface="Consolas"/>
                <a:cs typeface="Consolas"/>
              </a:rPr>
              <a:t>do</a:t>
            </a:r>
            <a:endParaRPr sz="2000" dirty="0">
              <a:latin typeface="Consolas"/>
              <a:cs typeface="Consolas"/>
            </a:endParaRPr>
          </a:p>
          <a:p>
            <a:pPr marL="542925" marR="517461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$num </a:t>
            </a:r>
            <a:r>
              <a:rPr sz="2000" spc="-10" dirty="0">
                <a:latin typeface="Consolas"/>
                <a:cs typeface="Consolas"/>
              </a:rPr>
              <a:t>num=$((num+1))</a:t>
            </a:r>
            <a:endParaRPr sz="20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done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2419226" y="156501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1" y="304799"/>
                </a:moveTo>
                <a:lnTo>
                  <a:pt x="0" y="304799"/>
                </a:lnTo>
                <a:lnTo>
                  <a:pt x="0" y="0"/>
                </a:lnTo>
                <a:lnTo>
                  <a:pt x="279191" y="0"/>
                </a:lnTo>
                <a:lnTo>
                  <a:pt x="279191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6227" y="1565019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418787" y="304799"/>
                </a:moveTo>
                <a:lnTo>
                  <a:pt x="0" y="304799"/>
                </a:lnTo>
                <a:lnTo>
                  <a:pt x="0" y="0"/>
                </a:lnTo>
                <a:lnTo>
                  <a:pt x="418787" y="0"/>
                </a:lnTo>
                <a:lnTo>
                  <a:pt x="418787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25" y="156501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799"/>
                </a:moveTo>
                <a:lnTo>
                  <a:pt x="0" y="304799"/>
                </a:lnTo>
                <a:lnTo>
                  <a:pt x="0" y="0"/>
                </a:lnTo>
                <a:lnTo>
                  <a:pt x="697979" y="0"/>
                </a:lnTo>
                <a:lnTo>
                  <a:pt x="697979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40" y="1565019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58383" y="304799"/>
                </a:moveTo>
                <a:lnTo>
                  <a:pt x="0" y="304799"/>
                </a:lnTo>
                <a:lnTo>
                  <a:pt x="0" y="0"/>
                </a:lnTo>
                <a:lnTo>
                  <a:pt x="558383" y="0"/>
                </a:lnTo>
                <a:lnTo>
                  <a:pt x="558383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1145919"/>
            <a:ext cx="77260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Like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programming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languages,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control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flow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directives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if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Consolas"/>
                <a:cs typeface="Consolas"/>
              </a:rPr>
              <a:t>for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Consolas"/>
                <a:cs typeface="Consolas"/>
              </a:rPr>
              <a:t>while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case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12924" y="2097475"/>
            <a:ext cx="7677784" cy="256921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for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VARIABLE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in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{1..N}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do</a:t>
            </a:r>
            <a:endParaRPr sz="2000">
              <a:latin typeface="Consolas"/>
              <a:cs typeface="Consolas"/>
            </a:endParaRPr>
          </a:p>
          <a:p>
            <a:pPr marL="85725" marR="5174615" indent="457200">
              <a:lnSpc>
                <a:spcPct val="100000"/>
              </a:lnSpc>
            </a:pP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20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do</a:t>
            </a:r>
            <a:r>
              <a:rPr sz="20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999999"/>
                </a:solidFill>
                <a:latin typeface="Consolas"/>
                <a:cs typeface="Consolas"/>
              </a:rPr>
              <a:t>something </a:t>
            </a:r>
            <a:r>
              <a:rPr sz="2000" spc="-20" dirty="0">
                <a:latin typeface="Consolas"/>
                <a:cs typeface="Consolas"/>
              </a:rPr>
              <a:t>done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95" dirty="0"/>
              <a:t>Control</a:t>
            </a:r>
            <a:r>
              <a:rPr spc="160" dirty="0"/>
              <a:t> </a:t>
            </a:r>
            <a:r>
              <a:rPr spc="300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2419226" y="156501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1" y="304799"/>
                </a:moveTo>
                <a:lnTo>
                  <a:pt x="0" y="304799"/>
                </a:lnTo>
                <a:lnTo>
                  <a:pt x="0" y="0"/>
                </a:lnTo>
                <a:lnTo>
                  <a:pt x="279191" y="0"/>
                </a:lnTo>
                <a:lnTo>
                  <a:pt x="279191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6227" y="1565019"/>
            <a:ext cx="419100" cy="304800"/>
          </a:xfrm>
          <a:custGeom>
            <a:avLst/>
            <a:gdLst/>
            <a:ahLst/>
            <a:cxnLst/>
            <a:rect l="l" t="t" r="r" b="b"/>
            <a:pathLst>
              <a:path w="419100" h="304800">
                <a:moveTo>
                  <a:pt x="418787" y="304799"/>
                </a:moveTo>
                <a:lnTo>
                  <a:pt x="0" y="304799"/>
                </a:lnTo>
                <a:lnTo>
                  <a:pt x="0" y="0"/>
                </a:lnTo>
                <a:lnTo>
                  <a:pt x="418787" y="0"/>
                </a:lnTo>
                <a:lnTo>
                  <a:pt x="418787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25" y="156501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799"/>
                </a:moveTo>
                <a:lnTo>
                  <a:pt x="0" y="304799"/>
                </a:lnTo>
                <a:lnTo>
                  <a:pt x="0" y="0"/>
                </a:lnTo>
                <a:lnTo>
                  <a:pt x="697979" y="0"/>
                </a:lnTo>
                <a:lnTo>
                  <a:pt x="697979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40" y="1565019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58383" y="304799"/>
                </a:moveTo>
                <a:lnTo>
                  <a:pt x="0" y="304799"/>
                </a:lnTo>
                <a:lnTo>
                  <a:pt x="0" y="0"/>
                </a:lnTo>
                <a:lnTo>
                  <a:pt x="558383" y="0"/>
                </a:lnTo>
                <a:lnTo>
                  <a:pt x="558383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1145919"/>
            <a:ext cx="77260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Like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programming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languages,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control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flow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directives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if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Consolas"/>
                <a:cs typeface="Consolas"/>
              </a:rPr>
              <a:t>for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Consolas"/>
                <a:cs typeface="Consolas"/>
              </a:rPr>
              <a:t>while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case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12924" y="2097475"/>
            <a:ext cx="7677784" cy="256921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num=0</a:t>
            </a:r>
            <a:endParaRPr sz="2000">
              <a:latin typeface="Consolas"/>
              <a:cs typeface="Consolas"/>
            </a:endParaRPr>
          </a:p>
          <a:p>
            <a:pPr marL="85725" marR="521335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for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i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in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{1..100} </a:t>
            </a:r>
            <a:r>
              <a:rPr sz="2000" spc="-25" dirty="0">
                <a:latin typeface="Consolas"/>
                <a:cs typeface="Consolas"/>
              </a:rPr>
              <a:t>do</a:t>
            </a:r>
            <a:endParaRPr sz="2000">
              <a:latin typeface="Consolas"/>
              <a:cs typeface="Consolas"/>
            </a:endParaRPr>
          </a:p>
          <a:p>
            <a:pPr marL="542925" marR="517461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$num </a:t>
            </a:r>
            <a:r>
              <a:rPr sz="2000" spc="-10" dirty="0">
                <a:latin typeface="Consolas"/>
                <a:cs typeface="Consolas"/>
              </a:rPr>
              <a:t>num=$((num+1))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done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7628" y="1214499"/>
            <a:ext cx="15360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num_loop.sh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191640"/>
            <a:ext cx="76803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48960" algn="l"/>
              </a:tabLst>
            </a:pPr>
            <a:r>
              <a:rPr sz="2000" b="1" spc="-95" dirty="0">
                <a:solidFill>
                  <a:srgbClr val="202124"/>
                </a:solidFill>
                <a:latin typeface="Tahoma"/>
                <a:cs typeface="Tahoma"/>
              </a:rPr>
              <a:t>Exercise</a:t>
            </a:r>
            <a:r>
              <a:rPr sz="2000" b="1" spc="-1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290" dirty="0">
                <a:solidFill>
                  <a:srgbClr val="202124"/>
                </a:solidFill>
                <a:latin typeface="Tahoma"/>
                <a:cs typeface="Tahoma"/>
              </a:rPr>
              <a:t>1:</a:t>
            </a:r>
            <a:r>
              <a:rPr sz="2000" b="1" spc="-1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Write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called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that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loops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through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6467" y="156501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1542160"/>
            <a:ext cx="26333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1964" algn="l"/>
              </a:tabLst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every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number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through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5198" y="156501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20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2489" y="1542160"/>
            <a:ext cx="4775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prints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each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number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standard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output.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8852" y="1915539"/>
            <a:ext cx="11169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I'm</a:t>
            </a: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big!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725" y="1892680"/>
            <a:ext cx="75247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1500" algn="l"/>
              </a:tabLst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should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conditionally</a:t>
            </a:r>
            <a:r>
              <a:rPr sz="2000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print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every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number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35947" y="226605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1" y="304799"/>
                </a:moveTo>
                <a:lnTo>
                  <a:pt x="0" y="304799"/>
                </a:lnTo>
                <a:lnTo>
                  <a:pt x="0" y="0"/>
                </a:lnTo>
                <a:lnTo>
                  <a:pt x="279191" y="0"/>
                </a:lnTo>
                <a:lnTo>
                  <a:pt x="279191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4725" y="2243199"/>
            <a:ext cx="16141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larger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10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70393" y="4768069"/>
            <a:ext cx="1778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36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26574" y="1287450"/>
            <a:ext cx="7677784" cy="3265804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onsolas"/>
              <a:cs typeface="Consolas"/>
            </a:endParaRPr>
          </a:p>
          <a:p>
            <a:pPr marL="85725" marR="535305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for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i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in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{1..20} </a:t>
            </a:r>
            <a:r>
              <a:rPr sz="2000" spc="-25" dirty="0">
                <a:latin typeface="Consolas"/>
                <a:cs typeface="Consolas"/>
              </a:rPr>
              <a:t>do</a:t>
            </a:r>
            <a:endParaRPr sz="2000" dirty="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$i</a:t>
            </a:r>
            <a:endParaRPr sz="2000" dirty="0">
              <a:latin typeface="Consolas"/>
              <a:cs typeface="Consolas"/>
            </a:endParaRPr>
          </a:p>
          <a:p>
            <a:pPr marL="542925" marR="489521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$i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10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 dirty="0">
              <a:latin typeface="Consolas"/>
              <a:cs typeface="Consolas"/>
            </a:endParaRPr>
          </a:p>
          <a:p>
            <a:pPr marL="10001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"I'm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big!"</a:t>
            </a:r>
            <a:endParaRPr sz="2000" dirty="0">
              <a:latin typeface="Consolas"/>
              <a:cs typeface="Consolas"/>
            </a:endParaRPr>
          </a:p>
          <a:p>
            <a:pPr marL="85725" marR="6847840" indent="457200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 </a:t>
            </a:r>
            <a:r>
              <a:rPr sz="2000" spc="-20" dirty="0">
                <a:latin typeface="Consolas"/>
                <a:cs typeface="Consolas"/>
              </a:rPr>
              <a:t>done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779843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take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look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might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line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make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090" y="1565019"/>
            <a:ext cx="13963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big_num.sh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542160"/>
            <a:ext cx="5215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060" algn="l"/>
              </a:tabLst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our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script</a:t>
            </a:r>
            <a:r>
              <a:rPr sz="2000" spc="-1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little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more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interesting.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779843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take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look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might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line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make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090" y="1565019"/>
            <a:ext cx="13963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big_num.sh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542160"/>
            <a:ext cx="5215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060" algn="l"/>
              </a:tabLst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our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script</a:t>
            </a:r>
            <a:r>
              <a:rPr sz="2000" spc="-1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little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more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interesting.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1677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2465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$9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2045080"/>
            <a:ext cx="6988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685" algn="l"/>
                <a:tab pos="3167380" algn="l"/>
              </a:tabLst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bash,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variables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5" dirty="0">
                <a:solidFill>
                  <a:srgbClr val="202124"/>
                </a:solidFill>
                <a:latin typeface="Tahoma"/>
                <a:cs typeface="Tahoma"/>
              </a:rPr>
              <a:t>-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refers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779843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take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look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might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line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make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090" y="1565019"/>
            <a:ext cx="13963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big_num.sh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542160"/>
            <a:ext cx="5215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060" algn="l"/>
              </a:tabLst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our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script</a:t>
            </a:r>
            <a:r>
              <a:rPr sz="2000" spc="-1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little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more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interesting.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1677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2465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$9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2045080"/>
            <a:ext cx="6988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685" algn="l"/>
                <a:tab pos="3167380" algn="l"/>
              </a:tabLst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bash,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variables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5" dirty="0">
                <a:solidFill>
                  <a:srgbClr val="202124"/>
                </a:solidFill>
                <a:latin typeface="Tahoma"/>
                <a:cs typeface="Tahoma"/>
              </a:rPr>
              <a:t>-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refers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274" y="3106524"/>
            <a:ext cx="8373745" cy="425116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857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75"/>
              </a:spcBef>
            </a:pPr>
            <a:r>
              <a:rPr lang="en-US" sz="2200" b="1" spc="-25" dirty="0" err="1">
                <a:latin typeface="Consolas"/>
                <a:cs typeface="Consolas"/>
              </a:rPr>
              <a:t>root@sandeep-</a:t>
            </a:r>
            <a:r>
              <a:rPr lang="en-US" sz="2200" b="1" dirty="0" err="1">
                <a:latin typeface="Consolas"/>
                <a:cs typeface="Consolas"/>
              </a:rPr>
              <a:t>computer</a:t>
            </a:r>
            <a:r>
              <a:rPr lang="en-US" sz="2200" b="1" spc="-25" dirty="0">
                <a:latin typeface="Consolas"/>
                <a:cs typeface="Consolas"/>
              </a:rPr>
              <a:t> </a:t>
            </a:r>
            <a:r>
              <a:rPr sz="2200" b="1" dirty="0">
                <a:latin typeface="Consolas"/>
                <a:cs typeface="Consolas"/>
              </a:rPr>
              <a:t>~</a:t>
            </a:r>
            <a:r>
              <a:rPr sz="2200" b="1" spc="-60" dirty="0">
                <a:latin typeface="Consolas"/>
                <a:cs typeface="Consolas"/>
              </a:rPr>
              <a:t> </a:t>
            </a:r>
            <a:r>
              <a:rPr sz="2200" b="1" dirty="0">
                <a:latin typeface="Consolas"/>
                <a:cs typeface="Consolas"/>
              </a:rPr>
              <a:t>%</a:t>
            </a:r>
            <a:r>
              <a:rPr sz="2200" b="1" spc="-2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sh</a:t>
            </a:r>
            <a:r>
              <a:rPr sz="2200" spc="-5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my_script.sh</a:t>
            </a:r>
            <a:r>
              <a:rPr sz="2200" spc="-60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ayelet</a:t>
            </a:r>
            <a:endParaRPr sz="22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191640"/>
            <a:ext cx="779843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take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look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might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line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make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090" y="1565019"/>
            <a:ext cx="13963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big_num.sh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542160"/>
            <a:ext cx="5215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060" algn="l"/>
              </a:tabLst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our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script</a:t>
            </a:r>
            <a:r>
              <a:rPr sz="2000" spc="-1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little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more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interesting.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1677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2465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$9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2045080"/>
            <a:ext cx="6988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685" algn="l"/>
                <a:tab pos="3167380" algn="l"/>
              </a:tabLst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bash,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variables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5" dirty="0">
                <a:solidFill>
                  <a:srgbClr val="202124"/>
                </a:solidFill>
                <a:latin typeface="Tahoma"/>
                <a:cs typeface="Tahoma"/>
              </a:rPr>
              <a:t>-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refers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274" y="3106524"/>
            <a:ext cx="8373745" cy="425116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857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75"/>
              </a:spcBef>
            </a:pPr>
            <a:r>
              <a:rPr lang="en-US" sz="2200" b="1" spc="-25" dirty="0" err="1">
                <a:latin typeface="Consolas"/>
                <a:cs typeface="Consolas"/>
              </a:rPr>
              <a:t>root@sandeep-</a:t>
            </a:r>
            <a:r>
              <a:rPr lang="en-US" sz="2200" b="1" dirty="0" err="1">
                <a:latin typeface="Consolas"/>
                <a:cs typeface="Consolas"/>
              </a:rPr>
              <a:t>computer</a:t>
            </a:r>
            <a:r>
              <a:rPr lang="en-US" sz="2200" b="1" spc="-25" dirty="0">
                <a:latin typeface="Consolas"/>
                <a:cs typeface="Consolas"/>
              </a:rPr>
              <a:t> </a:t>
            </a:r>
            <a:r>
              <a:rPr sz="2200" b="1" dirty="0">
                <a:latin typeface="Consolas"/>
                <a:cs typeface="Consolas"/>
              </a:rPr>
              <a:t>~</a:t>
            </a:r>
            <a:r>
              <a:rPr sz="2200" b="1" spc="-20" dirty="0">
                <a:latin typeface="Consolas"/>
                <a:cs typeface="Consolas"/>
              </a:rPr>
              <a:t> </a:t>
            </a:r>
            <a:r>
              <a:rPr sz="2200" b="1" dirty="0">
                <a:latin typeface="Consolas"/>
                <a:cs typeface="Consolas"/>
              </a:rPr>
              <a:t>%</a:t>
            </a:r>
            <a:r>
              <a:rPr sz="2200" b="1" spc="1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sh</a:t>
            </a:r>
            <a:r>
              <a:rPr sz="2200" spc="-20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my_script.sh</a:t>
            </a:r>
            <a:endParaRPr sz="22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1024" y="3198174"/>
            <a:ext cx="982344" cy="346710"/>
          </a:xfrm>
          <a:prstGeom prst="rect">
            <a:avLst/>
          </a:prstGeom>
          <a:solidFill>
            <a:srgbClr val="F3F3F3"/>
          </a:solidFill>
          <a:ln w="38099">
            <a:solidFill>
              <a:srgbClr val="0072F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595"/>
              </a:lnSpc>
            </a:pPr>
            <a:r>
              <a:rPr sz="2200" spc="-10" dirty="0">
                <a:latin typeface="Consolas"/>
                <a:cs typeface="Consolas"/>
              </a:rPr>
              <a:t>ayelet</a:t>
            </a:r>
            <a:endParaRPr sz="22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-4762" y="-4762"/>
            <a:ext cx="9153525" cy="836294"/>
            <a:chOff x="-4762" y="-4762"/>
            <a:chExt cx="9153525" cy="836294"/>
          </a:xfrm>
        </p:grpSpPr>
        <p:sp>
          <p:nvSpPr>
            <p:cNvPr id="11" name="object 11"/>
            <p:cNvSpPr/>
            <p:nvPr/>
          </p:nvSpPr>
          <p:spPr>
            <a:xfrm>
              <a:off x="0" y="0"/>
              <a:ext cx="9144000" cy="826769"/>
            </a:xfrm>
            <a:custGeom>
              <a:avLst/>
              <a:gdLst/>
              <a:ahLst/>
              <a:cxnLst/>
              <a:rect l="l" t="t" r="r" b="b"/>
              <a:pathLst>
                <a:path w="9144000" h="826769">
                  <a:moveTo>
                    <a:pt x="0" y="0"/>
                  </a:moveTo>
                  <a:lnTo>
                    <a:pt x="9143999" y="0"/>
                  </a:lnTo>
                  <a:lnTo>
                    <a:pt x="9143999" y="826199"/>
                  </a:lnTo>
                  <a:lnTo>
                    <a:pt x="0" y="826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8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9144000" cy="826769"/>
            </a:xfrm>
            <a:custGeom>
              <a:avLst/>
              <a:gdLst/>
              <a:ahLst/>
              <a:cxnLst/>
              <a:rect l="l" t="t" r="r" b="b"/>
              <a:pathLst>
                <a:path w="9144000" h="826769">
                  <a:moveTo>
                    <a:pt x="0" y="0"/>
                  </a:moveTo>
                  <a:lnTo>
                    <a:pt x="9143999" y="0"/>
                  </a:lnTo>
                </a:path>
                <a:path w="9144000" h="826769">
                  <a:moveTo>
                    <a:pt x="9143999" y="826199"/>
                  </a:moveTo>
                  <a:lnTo>
                    <a:pt x="0" y="826199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2688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14" name="object 14"/>
          <p:cNvSpPr/>
          <p:nvPr/>
        </p:nvSpPr>
        <p:spPr>
          <a:xfrm>
            <a:off x="7895019" y="4178100"/>
            <a:ext cx="237490" cy="259079"/>
          </a:xfrm>
          <a:custGeom>
            <a:avLst/>
            <a:gdLst/>
            <a:ahLst/>
            <a:cxnLst/>
            <a:rect l="l" t="t" r="r" b="b"/>
            <a:pathLst>
              <a:path w="237490" h="259079">
                <a:moveTo>
                  <a:pt x="237296" y="259079"/>
                </a:moveTo>
                <a:lnTo>
                  <a:pt x="0" y="259079"/>
                </a:lnTo>
                <a:lnTo>
                  <a:pt x="0" y="0"/>
                </a:lnTo>
                <a:lnTo>
                  <a:pt x="237296" y="0"/>
                </a:lnTo>
                <a:lnTo>
                  <a:pt x="237296" y="25907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39234" y="4156764"/>
            <a:ext cx="9061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ahoma"/>
                <a:cs typeface="Tahoma"/>
              </a:rPr>
              <a:t>This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spc="-25" dirty="0">
                <a:latin typeface="Consolas"/>
                <a:cs typeface="Consolas"/>
              </a:rPr>
              <a:t>$1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57762" y="3707462"/>
            <a:ext cx="269240" cy="455930"/>
            <a:chOff x="7557762" y="3707462"/>
            <a:chExt cx="269240" cy="455930"/>
          </a:xfrm>
        </p:grpSpPr>
        <p:sp>
          <p:nvSpPr>
            <p:cNvPr id="17" name="object 17"/>
            <p:cNvSpPr/>
            <p:nvPr/>
          </p:nvSpPr>
          <p:spPr>
            <a:xfrm>
              <a:off x="7562525" y="371222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5" h="446404">
                  <a:moveTo>
                    <a:pt x="194399" y="446399"/>
                  </a:move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62525" y="371222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5" h="446404">
                  <a:moveTo>
                    <a:pt x="0" y="129599"/>
                  </a:move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close/>
                </a:path>
              </a:pathLst>
            </a:custGeom>
            <a:ln w="9524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779843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take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look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might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line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make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090" y="1565019"/>
            <a:ext cx="13963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big_num.sh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542160"/>
            <a:ext cx="5215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060" algn="l"/>
              </a:tabLst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our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script</a:t>
            </a:r>
            <a:r>
              <a:rPr sz="2000" spc="-1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little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more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interesting.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1677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2465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$9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2045080"/>
            <a:ext cx="6988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685" algn="l"/>
                <a:tab pos="3167380" algn="l"/>
              </a:tabLst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bash,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variables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5" dirty="0">
                <a:solidFill>
                  <a:srgbClr val="202124"/>
                </a:solidFill>
                <a:latin typeface="Tahoma"/>
                <a:cs typeface="Tahoma"/>
              </a:rPr>
              <a:t>-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refers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725" y="2548000"/>
            <a:ext cx="13589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0669" y="257085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$0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7961" y="2548000"/>
            <a:ext cx="348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refers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name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9274" y="3106524"/>
            <a:ext cx="8373745" cy="425116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857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75"/>
              </a:spcBef>
            </a:pPr>
            <a:r>
              <a:rPr lang="en-US" sz="2200" b="1" spc="-25" dirty="0" err="1">
                <a:latin typeface="Consolas"/>
                <a:cs typeface="Consolas"/>
              </a:rPr>
              <a:t>root</a:t>
            </a:r>
            <a:r>
              <a:rPr sz="2200" b="1" spc="-25" dirty="0" err="1">
                <a:latin typeface="Consolas"/>
                <a:cs typeface="Consolas"/>
              </a:rPr>
              <a:t>@</a:t>
            </a:r>
            <a:r>
              <a:rPr lang="en-US" sz="2200" b="1" spc="-25" dirty="0" err="1">
                <a:latin typeface="Consolas"/>
                <a:cs typeface="Consolas"/>
              </a:rPr>
              <a:t>sandeep</a:t>
            </a:r>
            <a:r>
              <a:rPr sz="2200" b="1" spc="-25" dirty="0" err="1">
                <a:latin typeface="Consolas"/>
                <a:cs typeface="Consolas"/>
              </a:rPr>
              <a:t>-</a:t>
            </a:r>
            <a:r>
              <a:rPr sz="2200" b="1" dirty="0" err="1">
                <a:latin typeface="Consolas"/>
                <a:cs typeface="Consolas"/>
              </a:rPr>
              <a:t>computer</a:t>
            </a:r>
            <a:r>
              <a:rPr sz="2200" b="1" spc="-25" dirty="0">
                <a:latin typeface="Consolas"/>
                <a:cs typeface="Consolas"/>
              </a:rPr>
              <a:t> </a:t>
            </a:r>
            <a:r>
              <a:rPr sz="2200" b="1" dirty="0">
                <a:latin typeface="Consolas"/>
                <a:cs typeface="Consolas"/>
              </a:rPr>
              <a:t>~</a:t>
            </a:r>
            <a:r>
              <a:rPr sz="2200" b="1" spc="-20" dirty="0">
                <a:latin typeface="Consolas"/>
                <a:cs typeface="Consolas"/>
              </a:rPr>
              <a:t> </a:t>
            </a:r>
            <a:r>
              <a:rPr sz="2200" b="1" dirty="0">
                <a:latin typeface="Consolas"/>
                <a:cs typeface="Consolas"/>
              </a:rPr>
              <a:t>%</a:t>
            </a:r>
            <a:r>
              <a:rPr sz="2200" b="1" spc="1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sh</a:t>
            </a:r>
            <a:r>
              <a:rPr sz="2200" spc="-20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my_script.sh</a:t>
            </a:r>
            <a:endParaRPr sz="2200" dirty="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01024" y="3198174"/>
            <a:ext cx="982344" cy="346710"/>
          </a:xfrm>
          <a:prstGeom prst="rect">
            <a:avLst/>
          </a:prstGeom>
          <a:solidFill>
            <a:srgbClr val="F3F3F3"/>
          </a:solidFill>
          <a:ln w="38099">
            <a:solidFill>
              <a:srgbClr val="0072F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595"/>
              </a:lnSpc>
            </a:pPr>
            <a:r>
              <a:rPr sz="2200" spc="-10" dirty="0">
                <a:latin typeface="Consolas"/>
                <a:cs typeface="Consolas"/>
              </a:rPr>
              <a:t>ayelet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95019" y="4178100"/>
            <a:ext cx="237490" cy="259079"/>
          </a:xfrm>
          <a:custGeom>
            <a:avLst/>
            <a:gdLst/>
            <a:ahLst/>
            <a:cxnLst/>
            <a:rect l="l" t="t" r="r" b="b"/>
            <a:pathLst>
              <a:path w="237490" h="259079">
                <a:moveTo>
                  <a:pt x="237296" y="259079"/>
                </a:moveTo>
                <a:lnTo>
                  <a:pt x="0" y="259079"/>
                </a:lnTo>
                <a:lnTo>
                  <a:pt x="0" y="0"/>
                </a:lnTo>
                <a:lnTo>
                  <a:pt x="237296" y="0"/>
                </a:lnTo>
                <a:lnTo>
                  <a:pt x="237296" y="25907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39234" y="4156764"/>
            <a:ext cx="9061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ahoma"/>
                <a:cs typeface="Tahoma"/>
              </a:rPr>
              <a:t>This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spc="-25" dirty="0">
                <a:latin typeface="Consolas"/>
                <a:cs typeface="Consolas"/>
              </a:rPr>
              <a:t>$1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57762" y="3707462"/>
            <a:ext cx="269240" cy="455930"/>
            <a:chOff x="7557762" y="3707462"/>
            <a:chExt cx="269240" cy="455930"/>
          </a:xfrm>
        </p:grpSpPr>
        <p:sp>
          <p:nvSpPr>
            <p:cNvPr id="17" name="object 17"/>
            <p:cNvSpPr/>
            <p:nvPr/>
          </p:nvSpPr>
          <p:spPr>
            <a:xfrm>
              <a:off x="7562525" y="371222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5" h="446404">
                  <a:moveTo>
                    <a:pt x="194399" y="446399"/>
                  </a:move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62525" y="371222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5" h="446404">
                  <a:moveTo>
                    <a:pt x="0" y="129599"/>
                  </a:move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close/>
                </a:path>
              </a:pathLst>
            </a:custGeom>
            <a:ln w="9524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9274" y="3106524"/>
            <a:ext cx="8373745" cy="425116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857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75"/>
              </a:spcBef>
            </a:pPr>
            <a:r>
              <a:rPr lang="en-US" sz="2200" b="1" spc="-25" dirty="0" err="1">
                <a:latin typeface="Consolas"/>
                <a:cs typeface="Consolas"/>
              </a:rPr>
              <a:t>root@sandeep-computer</a:t>
            </a:r>
            <a:r>
              <a:rPr sz="2200" b="1" dirty="0">
                <a:latin typeface="Consolas"/>
                <a:cs typeface="Consolas"/>
              </a:rPr>
              <a:t>~</a:t>
            </a:r>
            <a:r>
              <a:rPr sz="2200" b="1" spc="-20" dirty="0">
                <a:latin typeface="Consolas"/>
                <a:cs typeface="Consolas"/>
              </a:rPr>
              <a:t> </a:t>
            </a:r>
            <a:r>
              <a:rPr sz="2200" b="1" dirty="0">
                <a:latin typeface="Consolas"/>
                <a:cs typeface="Consolas"/>
              </a:rPr>
              <a:t>%</a:t>
            </a:r>
            <a:r>
              <a:rPr sz="2200" b="1" spc="25" dirty="0">
                <a:latin typeface="Consolas"/>
                <a:cs typeface="Consolas"/>
              </a:rPr>
              <a:t> </a:t>
            </a:r>
            <a:r>
              <a:rPr sz="2200" spc="-25" dirty="0">
                <a:latin typeface="Consolas"/>
                <a:cs typeface="Consolas"/>
              </a:rPr>
              <a:t>sh</a:t>
            </a:r>
            <a:endParaRPr sz="22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3725" y="3198174"/>
            <a:ext cx="1948180" cy="346710"/>
          </a:xfrm>
          <a:prstGeom prst="rect">
            <a:avLst/>
          </a:prstGeom>
          <a:solidFill>
            <a:srgbClr val="F3F3F3"/>
          </a:solidFill>
          <a:ln w="38099">
            <a:solidFill>
              <a:srgbClr val="0072F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ts val="2595"/>
              </a:lnSpc>
            </a:pPr>
            <a:r>
              <a:rPr sz="2200" spc="-10" dirty="0">
                <a:latin typeface="Consolas"/>
                <a:cs typeface="Consolas"/>
              </a:rPr>
              <a:t>my_script.sh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1024" y="3198174"/>
            <a:ext cx="982344" cy="346710"/>
          </a:xfrm>
          <a:prstGeom prst="rect">
            <a:avLst/>
          </a:prstGeom>
          <a:solidFill>
            <a:srgbClr val="F3F3F3"/>
          </a:solidFill>
          <a:ln w="38099">
            <a:solidFill>
              <a:srgbClr val="0072F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595"/>
              </a:lnSpc>
            </a:pPr>
            <a:r>
              <a:rPr sz="2200" spc="-10" dirty="0">
                <a:latin typeface="Consolas"/>
                <a:cs typeface="Consolas"/>
              </a:rPr>
              <a:t>ayelet</a:t>
            </a:r>
            <a:endParaRPr sz="2200">
              <a:latin typeface="Consolas"/>
              <a:cs typeface="Consola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4762" y="-4762"/>
            <a:ext cx="9153525" cy="836294"/>
            <a:chOff x="-4762" y="-4762"/>
            <a:chExt cx="9153525" cy="836294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9144000" cy="826769"/>
            </a:xfrm>
            <a:custGeom>
              <a:avLst/>
              <a:gdLst/>
              <a:ahLst/>
              <a:cxnLst/>
              <a:rect l="l" t="t" r="r" b="b"/>
              <a:pathLst>
                <a:path w="9144000" h="826769">
                  <a:moveTo>
                    <a:pt x="0" y="0"/>
                  </a:moveTo>
                  <a:lnTo>
                    <a:pt x="9143999" y="0"/>
                  </a:lnTo>
                  <a:lnTo>
                    <a:pt x="9143999" y="826199"/>
                  </a:lnTo>
                  <a:lnTo>
                    <a:pt x="0" y="826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8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9144000" cy="826769"/>
            </a:xfrm>
            <a:custGeom>
              <a:avLst/>
              <a:gdLst/>
              <a:ahLst/>
              <a:cxnLst/>
              <a:rect l="l" t="t" r="r" b="b"/>
              <a:pathLst>
                <a:path w="9144000" h="826769">
                  <a:moveTo>
                    <a:pt x="0" y="0"/>
                  </a:moveTo>
                  <a:lnTo>
                    <a:pt x="9143999" y="0"/>
                  </a:lnTo>
                </a:path>
                <a:path w="9144000" h="826769">
                  <a:moveTo>
                    <a:pt x="9143999" y="826199"/>
                  </a:moveTo>
                  <a:lnTo>
                    <a:pt x="0" y="826199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2688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4725" y="1191640"/>
            <a:ext cx="779843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take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look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might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line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make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090" y="1565019"/>
            <a:ext cx="13963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big_num.sh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725" y="1542160"/>
            <a:ext cx="5215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060" algn="l"/>
              </a:tabLst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our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script</a:t>
            </a:r>
            <a:r>
              <a:rPr sz="2000" spc="-1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little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more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interesting.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1677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22465" y="206793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$9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725" y="2045080"/>
            <a:ext cx="6988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685" algn="l"/>
                <a:tab pos="3167380" algn="l"/>
              </a:tabLst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bash,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variables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5" dirty="0">
                <a:solidFill>
                  <a:srgbClr val="202124"/>
                </a:solidFill>
                <a:latin typeface="Tahoma"/>
                <a:cs typeface="Tahoma"/>
              </a:rPr>
              <a:t>-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refers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725" y="2548000"/>
            <a:ext cx="13589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80669" y="257085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$0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97961" y="2548000"/>
            <a:ext cx="348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refers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name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28994" y="4178100"/>
            <a:ext cx="237490" cy="259079"/>
          </a:xfrm>
          <a:custGeom>
            <a:avLst/>
            <a:gdLst/>
            <a:ahLst/>
            <a:cxnLst/>
            <a:rect l="l" t="t" r="r" b="b"/>
            <a:pathLst>
              <a:path w="237490" h="259079">
                <a:moveTo>
                  <a:pt x="237296" y="259079"/>
                </a:moveTo>
                <a:lnTo>
                  <a:pt x="0" y="259079"/>
                </a:lnTo>
                <a:lnTo>
                  <a:pt x="0" y="0"/>
                </a:lnTo>
                <a:lnTo>
                  <a:pt x="237296" y="0"/>
                </a:lnTo>
                <a:lnTo>
                  <a:pt x="237296" y="25907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773209" y="4156764"/>
            <a:ext cx="9061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ahoma"/>
                <a:cs typeface="Tahoma"/>
              </a:rPr>
              <a:t>This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spc="-25" dirty="0">
                <a:latin typeface="Consolas"/>
                <a:cs typeface="Consolas"/>
              </a:rPr>
              <a:t>$0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91737" y="3707462"/>
            <a:ext cx="269240" cy="455930"/>
            <a:chOff x="6091737" y="3707462"/>
            <a:chExt cx="269240" cy="455930"/>
          </a:xfrm>
        </p:grpSpPr>
        <p:sp>
          <p:nvSpPr>
            <p:cNvPr id="21" name="object 21"/>
            <p:cNvSpPr/>
            <p:nvPr/>
          </p:nvSpPr>
          <p:spPr>
            <a:xfrm>
              <a:off x="6096499" y="371222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4" h="446404">
                  <a:moveTo>
                    <a:pt x="194399" y="446399"/>
                  </a:move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96499" y="371222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4" h="446404">
                  <a:moveTo>
                    <a:pt x="0" y="129599"/>
                  </a:move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close/>
                </a:path>
              </a:pathLst>
            </a:custGeom>
            <a:ln w="9524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7895019" y="4178100"/>
            <a:ext cx="237490" cy="259079"/>
          </a:xfrm>
          <a:custGeom>
            <a:avLst/>
            <a:gdLst/>
            <a:ahLst/>
            <a:cxnLst/>
            <a:rect l="l" t="t" r="r" b="b"/>
            <a:pathLst>
              <a:path w="237490" h="259079">
                <a:moveTo>
                  <a:pt x="237296" y="259079"/>
                </a:moveTo>
                <a:lnTo>
                  <a:pt x="0" y="259079"/>
                </a:lnTo>
                <a:lnTo>
                  <a:pt x="0" y="0"/>
                </a:lnTo>
                <a:lnTo>
                  <a:pt x="237296" y="0"/>
                </a:lnTo>
                <a:lnTo>
                  <a:pt x="237296" y="25907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239234" y="4156764"/>
            <a:ext cx="9061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ahoma"/>
                <a:cs typeface="Tahoma"/>
              </a:rPr>
              <a:t>This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spc="-25" dirty="0">
                <a:latin typeface="Consolas"/>
                <a:cs typeface="Consolas"/>
              </a:rPr>
              <a:t>$1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557762" y="3707462"/>
            <a:ext cx="269240" cy="455930"/>
            <a:chOff x="7557762" y="3707462"/>
            <a:chExt cx="269240" cy="455930"/>
          </a:xfrm>
        </p:grpSpPr>
        <p:sp>
          <p:nvSpPr>
            <p:cNvPr id="26" name="object 26"/>
            <p:cNvSpPr/>
            <p:nvPr/>
          </p:nvSpPr>
          <p:spPr>
            <a:xfrm>
              <a:off x="7562525" y="371222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5" h="446404">
                  <a:moveTo>
                    <a:pt x="194399" y="446399"/>
                  </a:move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62525" y="371222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5" h="446404">
                  <a:moveTo>
                    <a:pt x="0" y="129599"/>
                  </a:move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close/>
                </a:path>
              </a:pathLst>
            </a:custGeom>
            <a:ln w="9524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725570" y="121449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num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191640"/>
            <a:ext cx="70040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9750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first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argument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calling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695452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4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big_num.sh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102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1304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5570" y="121449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num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2458" y="1191640"/>
            <a:ext cx="5205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first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argument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calling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12924" y="1548925"/>
          <a:ext cx="6955154" cy="420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en-US" sz="2000" b="1" spc="-25" dirty="0" err="1">
                          <a:latin typeface="Consolas"/>
                          <a:cs typeface="Consolas"/>
                        </a:rPr>
                        <a:t>root@sandeep-computer</a:t>
                      </a:r>
                      <a:r>
                        <a:rPr sz="2000" b="1" dirty="0">
                          <a:latin typeface="Consolas"/>
                          <a:cs typeface="Consolas"/>
                        </a:rPr>
                        <a:t>~</a:t>
                      </a:r>
                      <a:r>
                        <a:rPr sz="2000" b="1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b="1" dirty="0">
                          <a:latin typeface="Consolas"/>
                          <a:cs typeface="Consolas"/>
                        </a:rPr>
                        <a:t>%</a:t>
                      </a:r>
                      <a:r>
                        <a:rPr sz="2000" b="1" spc="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sh</a:t>
                      </a:r>
                      <a:r>
                        <a:rPr sz="20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big_num.sh</a:t>
                      </a:r>
                      <a:endParaRPr sz="2000" dirty="0">
                        <a:latin typeface="Consolas"/>
                        <a:cs typeface="Consolas"/>
                      </a:endParaRPr>
                    </a:p>
                  </a:txBody>
                  <a:tcPr marL="0" marR="0" marT="48895" marB="0">
                    <a:lnR w="38100">
                      <a:solidFill>
                        <a:srgbClr val="0072F9"/>
                      </a:solidFill>
                      <a:prstDash val="solid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72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>
                      <a:solidFill>
                        <a:srgbClr val="0072F9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R w="38100">
                      <a:solidFill>
                        <a:srgbClr val="0072F9"/>
                      </a:solidFill>
                      <a:prstDash val="solid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320"/>
                        </a:lnSpc>
                      </a:pPr>
                      <a:r>
                        <a:rPr sz="2000" spc="-25" dirty="0">
                          <a:latin typeface="Consolas"/>
                          <a:cs typeface="Consolas"/>
                        </a:rPr>
                        <a:t>102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38100">
                      <a:solidFill>
                        <a:srgbClr val="0072F9"/>
                      </a:solidFill>
                      <a:prstDash val="solid"/>
                    </a:lnL>
                    <a:lnR w="38100">
                      <a:solidFill>
                        <a:srgbClr val="0072F9"/>
                      </a:solidFill>
                      <a:prstDash val="solid"/>
                    </a:lnR>
                    <a:lnT w="38100">
                      <a:solidFill>
                        <a:srgbClr val="0072F9"/>
                      </a:solidFill>
                      <a:prstDash val="solid"/>
                    </a:lnT>
                    <a:lnB w="38100">
                      <a:solidFill>
                        <a:srgbClr val="0072F9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72F9"/>
                      </a:solidFill>
                      <a:prstDash val="solid"/>
                    </a:lnL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765818" y="2607149"/>
            <a:ext cx="237490" cy="259079"/>
          </a:xfrm>
          <a:custGeom>
            <a:avLst/>
            <a:gdLst/>
            <a:ahLst/>
            <a:cxnLst/>
            <a:rect l="l" t="t" r="r" b="b"/>
            <a:pathLst>
              <a:path w="237490" h="259080">
                <a:moveTo>
                  <a:pt x="237296" y="259079"/>
                </a:moveTo>
                <a:lnTo>
                  <a:pt x="0" y="259079"/>
                </a:lnTo>
                <a:lnTo>
                  <a:pt x="0" y="0"/>
                </a:lnTo>
                <a:lnTo>
                  <a:pt x="237296" y="0"/>
                </a:lnTo>
                <a:lnTo>
                  <a:pt x="237296" y="25907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10034" y="2585813"/>
            <a:ext cx="9061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ahoma"/>
                <a:cs typeface="Tahoma"/>
              </a:rPr>
              <a:t>This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135" dirty="0">
                <a:latin typeface="Tahoma"/>
                <a:cs typeface="Tahoma"/>
              </a:rPr>
              <a:t> </a:t>
            </a:r>
            <a:r>
              <a:rPr sz="1700" spc="-25" dirty="0">
                <a:latin typeface="Consolas"/>
                <a:cs typeface="Consolas"/>
              </a:rPr>
              <a:t>$1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28562" y="2136512"/>
            <a:ext cx="269240" cy="455930"/>
            <a:chOff x="6428562" y="2136512"/>
            <a:chExt cx="269240" cy="455930"/>
          </a:xfrm>
        </p:grpSpPr>
        <p:sp>
          <p:nvSpPr>
            <p:cNvPr id="10" name="object 10"/>
            <p:cNvSpPr/>
            <p:nvPr/>
          </p:nvSpPr>
          <p:spPr>
            <a:xfrm>
              <a:off x="6433325" y="214127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5" h="446405">
                  <a:moveTo>
                    <a:pt x="194399" y="446399"/>
                  </a:move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33325" y="2141274"/>
              <a:ext cx="259715" cy="446405"/>
            </a:xfrm>
            <a:custGeom>
              <a:avLst/>
              <a:gdLst/>
              <a:ahLst/>
              <a:cxnLst/>
              <a:rect l="l" t="t" r="r" b="b"/>
              <a:pathLst>
                <a:path w="259715" h="446405">
                  <a:moveTo>
                    <a:pt x="0" y="129599"/>
                  </a:moveTo>
                  <a:lnTo>
                    <a:pt x="129599" y="0"/>
                  </a:lnTo>
                  <a:lnTo>
                    <a:pt x="259199" y="129599"/>
                  </a:lnTo>
                  <a:lnTo>
                    <a:pt x="194399" y="129599"/>
                  </a:lnTo>
                  <a:lnTo>
                    <a:pt x="194399" y="446399"/>
                  </a:lnTo>
                  <a:lnTo>
                    <a:pt x="64799" y="446399"/>
                  </a:lnTo>
                  <a:lnTo>
                    <a:pt x="64799" y="129599"/>
                  </a:lnTo>
                  <a:lnTo>
                    <a:pt x="0" y="129599"/>
                  </a:lnTo>
                  <a:close/>
                </a:path>
              </a:pathLst>
            </a:custGeom>
            <a:ln w="9524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70393" y="4768069"/>
            <a:ext cx="1778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46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5570" y="121449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num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191640"/>
            <a:ext cx="70040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9750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first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argument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calling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695452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4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big_num.sh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102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924" y="2228275"/>
            <a:ext cx="6954520" cy="2336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num=101</a:t>
            </a:r>
            <a:endParaRPr sz="2000">
              <a:latin typeface="Consolas"/>
              <a:cs typeface="Consolas"/>
            </a:endParaRPr>
          </a:p>
          <a:p>
            <a:pPr marL="85725" marR="421068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$num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100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"That's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big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number!"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25" dirty="0"/>
              <a:t>Arguments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5570" y="121449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num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191640"/>
            <a:ext cx="70040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9750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Let's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be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first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argument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calling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2924" y="2228275"/>
            <a:ext cx="6954520" cy="2336800"/>
          </a:xfrm>
          <a:custGeom>
            <a:avLst/>
            <a:gdLst/>
            <a:ahLst/>
            <a:cxnLst/>
            <a:rect l="l" t="t" r="r" b="b"/>
            <a:pathLst>
              <a:path w="6954520" h="2336800">
                <a:moveTo>
                  <a:pt x="6954299" y="2336699"/>
                </a:moveTo>
                <a:lnTo>
                  <a:pt x="0" y="2336699"/>
                </a:lnTo>
                <a:lnTo>
                  <a:pt x="0" y="0"/>
                </a:lnTo>
                <a:lnTo>
                  <a:pt x="6954299" y="0"/>
                </a:lnTo>
                <a:lnTo>
                  <a:pt x="6954299" y="23366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5950" y="2243515"/>
            <a:ext cx="4248150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num=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  <a:p>
            <a:pPr marL="12700" marR="157734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$num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100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"That's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big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number!"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2924" y="1567975"/>
            <a:ext cx="6954520" cy="424180"/>
          </a:xfrm>
          <a:custGeom>
            <a:avLst/>
            <a:gdLst/>
            <a:ahLst/>
            <a:cxnLst/>
            <a:rect l="l" t="t" r="r" b="b"/>
            <a:pathLst>
              <a:path w="6954520" h="424180">
                <a:moveTo>
                  <a:pt x="6954299" y="423899"/>
                </a:moveTo>
                <a:lnTo>
                  <a:pt x="0" y="423899"/>
                </a:lnTo>
                <a:lnTo>
                  <a:pt x="0" y="0"/>
                </a:lnTo>
                <a:lnTo>
                  <a:pt x="6954299" y="0"/>
                </a:lnTo>
                <a:lnTo>
                  <a:pt x="6954299" y="4238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5950" y="1604664"/>
            <a:ext cx="57467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big_num.sh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5175" y="1606824"/>
            <a:ext cx="606425" cy="346710"/>
          </a:xfrm>
          <a:prstGeom prst="rect">
            <a:avLst/>
          </a:prstGeom>
          <a:solidFill>
            <a:srgbClr val="F3F3F3"/>
          </a:solidFill>
          <a:ln w="38099">
            <a:solidFill>
              <a:srgbClr val="0072F9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sz="2000" spc="-25" dirty="0">
                <a:latin typeface="Consolas"/>
                <a:cs typeface="Consolas"/>
              </a:rPr>
              <a:t>102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02730" y="1933974"/>
            <a:ext cx="5095240" cy="1105535"/>
            <a:chOff x="1502730" y="1933974"/>
            <a:chExt cx="5095240" cy="1105535"/>
          </a:xfrm>
        </p:grpSpPr>
        <p:sp>
          <p:nvSpPr>
            <p:cNvPr id="11" name="object 11"/>
            <p:cNvSpPr/>
            <p:nvPr/>
          </p:nvSpPr>
          <p:spPr>
            <a:xfrm>
              <a:off x="1691133" y="1953024"/>
              <a:ext cx="4887595" cy="1005840"/>
            </a:xfrm>
            <a:custGeom>
              <a:avLst/>
              <a:gdLst/>
              <a:ahLst/>
              <a:cxnLst/>
              <a:rect l="l" t="t" r="r" b="b"/>
              <a:pathLst>
                <a:path w="4887595" h="1005839">
                  <a:moveTo>
                    <a:pt x="4887191" y="0"/>
                  </a:moveTo>
                  <a:lnTo>
                    <a:pt x="0" y="1005722"/>
                  </a:lnTo>
                </a:path>
              </a:pathLst>
            </a:custGeom>
            <a:ln w="38099">
              <a:solidFill>
                <a:srgbClr val="0072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2730" y="2878058"/>
              <a:ext cx="220137" cy="161378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2228275"/>
            <a:ext cx="7231380" cy="26301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make_and_enter()</a:t>
            </a:r>
            <a:r>
              <a:rPr sz="2000" spc="-26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</a:t>
            </a:r>
            <a:endParaRPr sz="2000">
              <a:latin typeface="Consolas"/>
              <a:cs typeface="Consolas"/>
            </a:endParaRPr>
          </a:p>
          <a:p>
            <a:pPr marL="542925" marR="544830">
              <a:lnSpc>
                <a:spcPct val="100000"/>
              </a:lnSpc>
            </a:pP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2000" spc="-90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calls</a:t>
            </a:r>
            <a:r>
              <a:rPr sz="2000" spc="-8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mkdir</a:t>
            </a:r>
            <a:r>
              <a:rPr sz="2000" spc="-8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(including</a:t>
            </a:r>
            <a:r>
              <a:rPr sz="2000" spc="-90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parent</a:t>
            </a:r>
            <a:r>
              <a:rPr sz="2000" spc="-8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999999"/>
                </a:solidFill>
                <a:latin typeface="Consolas"/>
                <a:cs typeface="Consolas"/>
              </a:rPr>
              <a:t>directories)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2000" spc="-50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99999"/>
                </a:solidFill>
                <a:latin typeface="Consolas"/>
                <a:cs typeface="Consolas"/>
              </a:rPr>
              <a:t>calls</a:t>
            </a:r>
            <a:r>
              <a:rPr sz="2000" spc="-50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999999"/>
                </a:solidFill>
                <a:latin typeface="Consolas"/>
                <a:cs typeface="Consolas"/>
              </a:rPr>
              <a:t>cd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mcd.sh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2228275"/>
            <a:ext cx="7231380" cy="26301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542925" marR="2670810" indent="-457200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make_and_enter(</a:t>
            </a:r>
            <a:r>
              <a:rPr sz="2000" spc="-10" dirty="0">
                <a:solidFill>
                  <a:srgbClr val="0072F9"/>
                </a:solidFill>
                <a:latin typeface="Consolas"/>
                <a:cs typeface="Consolas"/>
              </a:rPr>
              <a:t>directory_name</a:t>
            </a:r>
            <a:r>
              <a:rPr sz="2000" spc="-10" dirty="0">
                <a:latin typeface="Consolas"/>
                <a:cs typeface="Consolas"/>
              </a:rPr>
              <a:t>)</a:t>
            </a:r>
            <a:r>
              <a:rPr sz="2000" spc="-15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 </a:t>
            </a:r>
            <a:r>
              <a:rPr sz="2000" dirty="0">
                <a:latin typeface="Consolas"/>
                <a:cs typeface="Consolas"/>
              </a:rPr>
              <a:t>mkdir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72F9"/>
                </a:solidFill>
                <a:latin typeface="Consolas"/>
                <a:cs typeface="Consolas"/>
              </a:rPr>
              <a:t>directory_name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cd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72F9"/>
                </a:solidFill>
                <a:latin typeface="Consolas"/>
                <a:cs typeface="Consolas"/>
              </a:rPr>
              <a:t>directory_name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mcd.sh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924" y="2228275"/>
            <a:ext cx="7231380" cy="2630170"/>
          </a:xfrm>
          <a:custGeom>
            <a:avLst/>
            <a:gdLst/>
            <a:ahLst/>
            <a:cxnLst/>
            <a:rect l="l" t="t" r="r" b="b"/>
            <a:pathLst>
              <a:path w="7231380" h="2630170">
                <a:moveTo>
                  <a:pt x="7231199" y="2630099"/>
                </a:moveTo>
                <a:lnTo>
                  <a:pt x="0" y="2630099"/>
                </a:lnTo>
                <a:lnTo>
                  <a:pt x="0" y="0"/>
                </a:lnTo>
                <a:lnTo>
                  <a:pt x="7231199" y="0"/>
                </a:lnTo>
                <a:lnTo>
                  <a:pt x="7231199" y="26300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dirty="0"/>
              <a:t>#!/usr/bin/env</a:t>
            </a:r>
            <a:r>
              <a:rPr spc="-225" dirty="0"/>
              <a:t> </a:t>
            </a:r>
            <a:r>
              <a:rPr spc="-20" dirty="0"/>
              <a:t>bash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20" dirty="0"/>
          </a:p>
          <a:p>
            <a:pPr marL="542925" marR="2670810" indent="-457200">
              <a:lnSpc>
                <a:spcPct val="100000"/>
              </a:lnSpc>
            </a:pPr>
            <a:r>
              <a:rPr spc="-10" dirty="0"/>
              <a:t>make_and_enter(</a:t>
            </a:r>
            <a:r>
              <a:rPr spc="-10" dirty="0">
                <a:solidFill>
                  <a:srgbClr val="0072F9"/>
                </a:solidFill>
              </a:rPr>
              <a:t>directory_name</a:t>
            </a:r>
            <a:r>
              <a:rPr spc="-10" dirty="0"/>
              <a:t>)</a:t>
            </a:r>
            <a:r>
              <a:rPr spc="-155" dirty="0"/>
              <a:t> </a:t>
            </a:r>
            <a:r>
              <a:rPr spc="-50" dirty="0"/>
              <a:t>{ </a:t>
            </a:r>
            <a:r>
              <a:rPr dirty="0"/>
              <a:t>mkdir</a:t>
            </a:r>
            <a:r>
              <a:rPr spc="-45" dirty="0"/>
              <a:t> </a:t>
            </a:r>
            <a:r>
              <a:rPr spc="-25" dirty="0"/>
              <a:t>-</a:t>
            </a:r>
            <a:r>
              <a:rPr dirty="0"/>
              <a:t>p</a:t>
            </a:r>
            <a:r>
              <a:rPr spc="-35" dirty="0"/>
              <a:t> </a:t>
            </a:r>
            <a:r>
              <a:rPr spc="-10" dirty="0">
                <a:solidFill>
                  <a:srgbClr val="0072F9"/>
                </a:solidFill>
              </a:rPr>
              <a:t>directory_name</a:t>
            </a:r>
          </a:p>
          <a:p>
            <a:pPr marL="542925">
              <a:lnSpc>
                <a:spcPct val="100000"/>
              </a:lnSpc>
            </a:pPr>
            <a:r>
              <a:rPr dirty="0"/>
              <a:t>cd</a:t>
            </a:r>
            <a:r>
              <a:rPr spc="-30" dirty="0"/>
              <a:t> </a:t>
            </a:r>
            <a:r>
              <a:rPr spc="-10" dirty="0">
                <a:solidFill>
                  <a:srgbClr val="0072F9"/>
                </a:solidFill>
              </a:rPr>
              <a:t>directory_name</a:t>
            </a:r>
          </a:p>
          <a:p>
            <a:pPr marL="85725">
              <a:lnSpc>
                <a:spcPct val="100000"/>
              </a:lnSpc>
            </a:pPr>
            <a:r>
              <a:rPr spc="-50" dirty="0"/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mcd.sh</a:t>
            </a:r>
            <a:endParaRPr sz="2000" dirty="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5111" y="2647786"/>
            <a:ext cx="2364105" cy="1673860"/>
            <a:chOff x="1475111" y="2647786"/>
            <a:chExt cx="2364105" cy="1673860"/>
          </a:xfrm>
        </p:grpSpPr>
        <p:sp>
          <p:nvSpPr>
            <p:cNvPr id="8" name="object 8"/>
            <p:cNvSpPr/>
            <p:nvPr/>
          </p:nvSpPr>
          <p:spPr>
            <a:xfrm>
              <a:off x="1479874" y="2652548"/>
              <a:ext cx="2354580" cy="1664335"/>
            </a:xfrm>
            <a:custGeom>
              <a:avLst/>
              <a:gdLst/>
              <a:ahLst/>
              <a:cxnLst/>
              <a:rect l="l" t="t" r="r" b="b"/>
              <a:pathLst>
                <a:path w="2354579" h="1664335">
                  <a:moveTo>
                    <a:pt x="2277313" y="1664252"/>
                  </a:moveTo>
                  <a:lnTo>
                    <a:pt x="1177075" y="914692"/>
                  </a:lnTo>
                  <a:lnTo>
                    <a:pt x="76837" y="1664252"/>
                  </a:lnTo>
                  <a:lnTo>
                    <a:pt x="0" y="1551466"/>
                  </a:lnTo>
                  <a:lnTo>
                    <a:pt x="1055881" y="832126"/>
                  </a:lnTo>
                  <a:lnTo>
                    <a:pt x="0" y="112785"/>
                  </a:lnTo>
                  <a:lnTo>
                    <a:pt x="76837" y="0"/>
                  </a:lnTo>
                  <a:lnTo>
                    <a:pt x="1177075" y="749559"/>
                  </a:lnTo>
                  <a:lnTo>
                    <a:pt x="2277313" y="0"/>
                  </a:lnTo>
                  <a:lnTo>
                    <a:pt x="2354151" y="112785"/>
                  </a:lnTo>
                  <a:lnTo>
                    <a:pt x="1298270" y="832126"/>
                  </a:lnTo>
                  <a:lnTo>
                    <a:pt x="2354151" y="1551466"/>
                  </a:lnTo>
                  <a:lnTo>
                    <a:pt x="2277313" y="16642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79874" y="2652548"/>
              <a:ext cx="2354580" cy="1664335"/>
            </a:xfrm>
            <a:custGeom>
              <a:avLst/>
              <a:gdLst/>
              <a:ahLst/>
              <a:cxnLst/>
              <a:rect l="l" t="t" r="r" b="b"/>
              <a:pathLst>
                <a:path w="2354579" h="1664335">
                  <a:moveTo>
                    <a:pt x="0" y="112785"/>
                  </a:moveTo>
                  <a:lnTo>
                    <a:pt x="76837" y="0"/>
                  </a:lnTo>
                  <a:lnTo>
                    <a:pt x="1177075" y="749559"/>
                  </a:lnTo>
                  <a:lnTo>
                    <a:pt x="2277313" y="0"/>
                  </a:lnTo>
                  <a:lnTo>
                    <a:pt x="2354151" y="112785"/>
                  </a:lnTo>
                  <a:lnTo>
                    <a:pt x="1298270" y="832126"/>
                  </a:lnTo>
                  <a:lnTo>
                    <a:pt x="2354151" y="1551466"/>
                  </a:lnTo>
                  <a:lnTo>
                    <a:pt x="2277313" y="1664252"/>
                  </a:lnTo>
                  <a:lnTo>
                    <a:pt x="1177075" y="914692"/>
                  </a:lnTo>
                  <a:lnTo>
                    <a:pt x="76837" y="1664252"/>
                  </a:lnTo>
                  <a:lnTo>
                    <a:pt x="0" y="1551466"/>
                  </a:lnTo>
                  <a:lnTo>
                    <a:pt x="1055881" y="832126"/>
                  </a:lnTo>
                  <a:lnTo>
                    <a:pt x="0" y="11278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2228275"/>
            <a:ext cx="7231380" cy="26301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542925" marR="4627245" indent="-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make_and_enter()</a:t>
            </a:r>
            <a:r>
              <a:rPr sz="2000" spc="-26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 </a:t>
            </a:r>
            <a:r>
              <a:rPr sz="2000" dirty="0">
                <a:latin typeface="Consolas"/>
                <a:cs typeface="Consolas"/>
              </a:rPr>
              <a:t>mkdir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b="1" spc="-20" dirty="0">
                <a:solidFill>
                  <a:srgbClr val="0072F9"/>
                </a:solidFill>
                <a:latin typeface="Consolas"/>
                <a:cs typeface="Consolas"/>
              </a:rPr>
              <a:t>"$1" </a:t>
            </a:r>
            <a:r>
              <a:rPr sz="2000" dirty="0">
                <a:latin typeface="Consolas"/>
                <a:cs typeface="Consolas"/>
              </a:rPr>
              <a:t>cd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b="1" spc="-20" dirty="0">
                <a:solidFill>
                  <a:srgbClr val="0072F9"/>
                </a:solidFill>
                <a:latin typeface="Consolas"/>
                <a:cs typeface="Consolas"/>
              </a:rPr>
              <a:t>"$1"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mcd.sh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5950" y="4442475"/>
            <a:ext cx="35115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make_and_enter</a:t>
            </a:r>
            <a:r>
              <a:rPr sz="2000" b="1" spc="-2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new_folder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2228275"/>
            <a:ext cx="7231380" cy="26301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542925" marR="4627245" indent="-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make_and_enter()</a:t>
            </a:r>
            <a:r>
              <a:rPr sz="2000" spc="-26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 </a:t>
            </a:r>
            <a:r>
              <a:rPr sz="2000" dirty="0">
                <a:latin typeface="Consolas"/>
                <a:cs typeface="Consolas"/>
              </a:rPr>
              <a:t>mkdir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 </a:t>
            </a:r>
            <a:r>
              <a:rPr sz="2000" dirty="0">
                <a:latin typeface="Consolas"/>
                <a:cs typeface="Consolas"/>
              </a:rPr>
              <a:t>cd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mcd.sh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5950" y="4442475"/>
            <a:ext cx="35115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make_and_enter</a:t>
            </a:r>
            <a:r>
              <a:rPr sz="2000" b="1" spc="-2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new_folder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2228275"/>
            <a:ext cx="7231380" cy="26301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542925" marR="4627245" indent="-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make_and_enter()</a:t>
            </a:r>
            <a:r>
              <a:rPr sz="2000" spc="-26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 </a:t>
            </a:r>
            <a:r>
              <a:rPr sz="2000" dirty="0">
                <a:latin typeface="Consolas"/>
                <a:cs typeface="Consolas"/>
              </a:rPr>
              <a:t>mkdir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 </a:t>
            </a:r>
            <a:r>
              <a:rPr sz="2000" dirty="0">
                <a:latin typeface="Consolas"/>
                <a:cs typeface="Consolas"/>
              </a:rPr>
              <a:t>cd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mcd.sh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924" y="2228275"/>
            <a:ext cx="7231380" cy="2630170"/>
          </a:xfrm>
          <a:custGeom>
            <a:avLst/>
            <a:gdLst/>
            <a:ahLst/>
            <a:cxnLst/>
            <a:rect l="l" t="t" r="r" b="b"/>
            <a:pathLst>
              <a:path w="7231380" h="2630170">
                <a:moveTo>
                  <a:pt x="7231199" y="2630099"/>
                </a:moveTo>
                <a:lnTo>
                  <a:pt x="0" y="2630099"/>
                </a:lnTo>
                <a:lnTo>
                  <a:pt x="0" y="0"/>
                </a:lnTo>
                <a:lnTo>
                  <a:pt x="7231199" y="0"/>
                </a:lnTo>
                <a:lnTo>
                  <a:pt x="7231199" y="26300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dirty="0"/>
              <a:t>#!/usr/bin/env</a:t>
            </a:r>
            <a:r>
              <a:rPr spc="-225" dirty="0"/>
              <a:t> </a:t>
            </a:r>
            <a:r>
              <a:rPr spc="-20" dirty="0"/>
              <a:t>bash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20" dirty="0"/>
          </a:p>
          <a:p>
            <a:pPr marL="542925" marR="4627245" indent="-457200">
              <a:lnSpc>
                <a:spcPct val="100000"/>
              </a:lnSpc>
            </a:pPr>
            <a:r>
              <a:rPr dirty="0"/>
              <a:t>make_and_enter()</a:t>
            </a:r>
            <a:r>
              <a:rPr spc="-260" dirty="0"/>
              <a:t> </a:t>
            </a:r>
            <a:r>
              <a:rPr spc="-50" dirty="0"/>
              <a:t>{ </a:t>
            </a:r>
            <a:r>
              <a:rPr dirty="0"/>
              <a:t>mkdir</a:t>
            </a:r>
            <a:r>
              <a:rPr spc="-45" dirty="0"/>
              <a:t> </a:t>
            </a:r>
            <a:r>
              <a:rPr spc="-25" dirty="0"/>
              <a:t>-</a:t>
            </a:r>
            <a:r>
              <a:rPr dirty="0"/>
              <a:t>p</a:t>
            </a:r>
            <a:r>
              <a:rPr spc="-45" dirty="0"/>
              <a:t> </a:t>
            </a:r>
            <a:r>
              <a:rPr spc="-20" dirty="0"/>
              <a:t>"$1" </a:t>
            </a:r>
            <a:r>
              <a:rPr dirty="0"/>
              <a:t>cd</a:t>
            </a:r>
            <a:r>
              <a:rPr spc="-35" dirty="0"/>
              <a:t> </a:t>
            </a:r>
            <a:r>
              <a:rPr spc="-20" dirty="0"/>
              <a:t>"$1"</a:t>
            </a:r>
          </a:p>
          <a:p>
            <a:pPr marL="85725">
              <a:lnSpc>
                <a:spcPct val="100000"/>
              </a:lnSpc>
            </a:pPr>
            <a:r>
              <a:rPr spc="-50" dirty="0"/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mcd.sh</a:t>
            </a:r>
            <a:endParaRPr sz="2000" dirty="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47473" y="3524230"/>
            <a:ext cx="1226185" cy="922655"/>
            <a:chOff x="2047473" y="3524230"/>
            <a:chExt cx="1226185" cy="922655"/>
          </a:xfrm>
        </p:grpSpPr>
        <p:sp>
          <p:nvSpPr>
            <p:cNvPr id="8" name="object 8"/>
            <p:cNvSpPr/>
            <p:nvPr/>
          </p:nvSpPr>
          <p:spPr>
            <a:xfrm>
              <a:off x="2171452" y="3836269"/>
              <a:ext cx="945515" cy="596265"/>
            </a:xfrm>
            <a:custGeom>
              <a:avLst/>
              <a:gdLst/>
              <a:ahLst/>
              <a:cxnLst/>
              <a:rect l="l" t="t" r="r" b="b"/>
              <a:pathLst>
                <a:path w="945514" h="596264">
                  <a:moveTo>
                    <a:pt x="945472" y="59615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72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7473" y="3752817"/>
              <a:ext cx="163439" cy="13766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18375" y="3639384"/>
              <a:ext cx="641350" cy="793115"/>
            </a:xfrm>
            <a:custGeom>
              <a:avLst/>
              <a:gdLst/>
              <a:ahLst/>
              <a:cxnLst/>
              <a:rect l="l" t="t" r="r" b="b"/>
              <a:pathLst>
                <a:path w="641350" h="793114">
                  <a:moveTo>
                    <a:pt x="640749" y="793039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72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2590" y="3524230"/>
              <a:ext cx="146784" cy="15910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85950" y="4442475"/>
            <a:ext cx="35115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make_and_enter</a:t>
            </a:r>
            <a:r>
              <a:rPr sz="2000" b="1" spc="-2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new_folder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5950" y="4442475"/>
            <a:ext cx="35115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2000" dirty="0">
                <a:latin typeface="Consolas"/>
                <a:cs typeface="Consolas"/>
              </a:rPr>
              <a:t>make_and_enter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new_folder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0393" y="4768069"/>
            <a:ext cx="1778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56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2228275"/>
            <a:ext cx="7231380" cy="26301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542925" marR="4627245" indent="-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make_and_enter()</a:t>
            </a:r>
            <a:r>
              <a:rPr sz="2000" spc="-26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 </a:t>
            </a:r>
            <a:r>
              <a:rPr sz="2000" dirty="0">
                <a:latin typeface="Consolas"/>
                <a:cs typeface="Consolas"/>
              </a:rPr>
              <a:t>mkdir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 </a:t>
            </a:r>
            <a:r>
              <a:rPr sz="2000" dirty="0">
                <a:latin typeface="Consolas"/>
                <a:cs typeface="Consolas"/>
              </a:rPr>
              <a:t>cd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mcd.sh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5950" y="4442475"/>
            <a:ext cx="35115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2000" dirty="0">
                <a:latin typeface="Consolas"/>
                <a:cs typeface="Consolas"/>
              </a:rPr>
              <a:t>make_and_enter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new_folder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2228275"/>
            <a:ext cx="7231380" cy="26301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542925" marR="4627245" indent="-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make_and_enter()</a:t>
            </a:r>
            <a:r>
              <a:rPr sz="2000" spc="-26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 </a:t>
            </a:r>
            <a:r>
              <a:rPr sz="2000" dirty="0">
                <a:latin typeface="Consolas"/>
                <a:cs typeface="Consolas"/>
              </a:rPr>
              <a:t>mkdir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 </a:t>
            </a:r>
            <a:r>
              <a:rPr sz="2000" dirty="0">
                <a:latin typeface="Consolas"/>
                <a:cs typeface="Consolas"/>
              </a:rPr>
              <a:t>cd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3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mcd.sh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my_folder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924" y="2228275"/>
            <a:ext cx="7231380" cy="2630170"/>
          </a:xfrm>
          <a:custGeom>
            <a:avLst/>
            <a:gdLst/>
            <a:ahLst/>
            <a:cxnLst/>
            <a:rect l="l" t="t" r="r" b="b"/>
            <a:pathLst>
              <a:path w="7231380" h="2630170">
                <a:moveTo>
                  <a:pt x="7231199" y="2630099"/>
                </a:moveTo>
                <a:lnTo>
                  <a:pt x="0" y="2630099"/>
                </a:lnTo>
                <a:lnTo>
                  <a:pt x="0" y="0"/>
                </a:lnTo>
                <a:lnTo>
                  <a:pt x="7231199" y="0"/>
                </a:lnTo>
                <a:lnTo>
                  <a:pt x="7231199" y="26300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dirty="0"/>
              <a:t>#!/usr/bin/env</a:t>
            </a:r>
            <a:r>
              <a:rPr spc="-225" dirty="0"/>
              <a:t> </a:t>
            </a:r>
            <a:r>
              <a:rPr spc="-20" dirty="0"/>
              <a:t>bash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20" dirty="0"/>
          </a:p>
          <a:p>
            <a:pPr marL="542925" marR="4627245" indent="-457200">
              <a:lnSpc>
                <a:spcPct val="100000"/>
              </a:lnSpc>
            </a:pPr>
            <a:r>
              <a:rPr dirty="0"/>
              <a:t>make_and_enter()</a:t>
            </a:r>
            <a:r>
              <a:rPr spc="-260" dirty="0"/>
              <a:t> </a:t>
            </a:r>
            <a:r>
              <a:rPr spc="-50" dirty="0"/>
              <a:t>{ </a:t>
            </a:r>
            <a:r>
              <a:rPr dirty="0"/>
              <a:t>mkdir</a:t>
            </a:r>
            <a:r>
              <a:rPr spc="-45" dirty="0"/>
              <a:t> </a:t>
            </a:r>
            <a:r>
              <a:rPr spc="-25" dirty="0"/>
              <a:t>-</a:t>
            </a:r>
            <a:r>
              <a:rPr dirty="0"/>
              <a:t>p</a:t>
            </a:r>
            <a:r>
              <a:rPr spc="-45" dirty="0"/>
              <a:t> </a:t>
            </a:r>
            <a:r>
              <a:rPr spc="-20" dirty="0"/>
              <a:t>"$1" </a:t>
            </a:r>
            <a:r>
              <a:rPr dirty="0"/>
              <a:t>cd</a:t>
            </a:r>
            <a:r>
              <a:rPr spc="-35" dirty="0"/>
              <a:t> </a:t>
            </a:r>
            <a:r>
              <a:rPr spc="-20" dirty="0"/>
              <a:t>"$1"</a:t>
            </a:r>
          </a:p>
          <a:p>
            <a:pPr marL="85725">
              <a:lnSpc>
                <a:spcPct val="100000"/>
              </a:lnSpc>
            </a:pPr>
            <a:r>
              <a:rPr spc="-50" dirty="0"/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3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mcd.sh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my_folder</a:t>
            </a:r>
            <a:endParaRPr sz="2000" dirty="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47473" y="3524230"/>
            <a:ext cx="1226185" cy="922655"/>
            <a:chOff x="2047473" y="3524230"/>
            <a:chExt cx="1226185" cy="922655"/>
          </a:xfrm>
        </p:grpSpPr>
        <p:sp>
          <p:nvSpPr>
            <p:cNvPr id="8" name="object 8"/>
            <p:cNvSpPr/>
            <p:nvPr/>
          </p:nvSpPr>
          <p:spPr>
            <a:xfrm>
              <a:off x="2171452" y="3836269"/>
              <a:ext cx="945515" cy="596265"/>
            </a:xfrm>
            <a:custGeom>
              <a:avLst/>
              <a:gdLst/>
              <a:ahLst/>
              <a:cxnLst/>
              <a:rect l="l" t="t" r="r" b="b"/>
              <a:pathLst>
                <a:path w="945514" h="596264">
                  <a:moveTo>
                    <a:pt x="945472" y="59615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72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7473" y="3752817"/>
              <a:ext cx="163439" cy="13766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18375" y="3639384"/>
              <a:ext cx="641350" cy="793115"/>
            </a:xfrm>
            <a:custGeom>
              <a:avLst/>
              <a:gdLst/>
              <a:ahLst/>
              <a:cxnLst/>
              <a:rect l="l" t="t" r="r" b="b"/>
              <a:pathLst>
                <a:path w="641350" h="793114">
                  <a:moveTo>
                    <a:pt x="640749" y="793039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72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2590" y="3524230"/>
              <a:ext cx="146784" cy="15910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85950" y="4442475"/>
            <a:ext cx="35115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2000" dirty="0">
                <a:latin typeface="Consolas"/>
                <a:cs typeface="Consolas"/>
              </a:rPr>
              <a:t>make_and_enter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new_folder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924" y="2228275"/>
            <a:ext cx="7231380" cy="2630170"/>
          </a:xfrm>
          <a:custGeom>
            <a:avLst/>
            <a:gdLst/>
            <a:ahLst/>
            <a:cxnLst/>
            <a:rect l="l" t="t" r="r" b="b"/>
            <a:pathLst>
              <a:path w="7231380" h="2630170">
                <a:moveTo>
                  <a:pt x="7231199" y="2630099"/>
                </a:moveTo>
                <a:lnTo>
                  <a:pt x="0" y="2630099"/>
                </a:lnTo>
                <a:lnTo>
                  <a:pt x="0" y="0"/>
                </a:lnTo>
                <a:lnTo>
                  <a:pt x="7231199" y="0"/>
                </a:lnTo>
                <a:lnTo>
                  <a:pt x="7231199" y="26300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5950" y="2243515"/>
            <a:ext cx="267525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469900" marR="144145" indent="-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make_and_enter()</a:t>
            </a:r>
            <a:r>
              <a:rPr sz="2000" spc="-26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 </a:t>
            </a:r>
            <a:r>
              <a:rPr sz="2000" dirty="0">
                <a:latin typeface="Consolas"/>
                <a:cs typeface="Consolas"/>
              </a:rPr>
              <a:t>mkdir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 </a:t>
            </a:r>
            <a:r>
              <a:rPr sz="2000" dirty="0">
                <a:latin typeface="Consolas"/>
                <a:cs typeface="Consolas"/>
              </a:rPr>
              <a:t>cd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3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mcd.sh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my_folder</a:t>
            </a:r>
            <a:endParaRPr sz="2000" dirty="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06724" y="2047862"/>
            <a:ext cx="3703954" cy="2540635"/>
            <a:chOff x="3006724" y="2047862"/>
            <a:chExt cx="3703954" cy="2540635"/>
          </a:xfrm>
        </p:grpSpPr>
        <p:sp>
          <p:nvSpPr>
            <p:cNvPr id="8" name="object 8"/>
            <p:cNvSpPr/>
            <p:nvPr/>
          </p:nvSpPr>
          <p:spPr>
            <a:xfrm>
              <a:off x="3128067" y="2062149"/>
              <a:ext cx="3568065" cy="2439035"/>
            </a:xfrm>
            <a:custGeom>
              <a:avLst/>
              <a:gdLst/>
              <a:ahLst/>
              <a:cxnLst/>
              <a:rect l="l" t="t" r="r" b="b"/>
              <a:pathLst>
                <a:path w="3568065" h="2439035">
                  <a:moveTo>
                    <a:pt x="3567956" y="0"/>
                  </a:moveTo>
                  <a:lnTo>
                    <a:pt x="0" y="2438849"/>
                  </a:lnTo>
                </a:path>
              </a:pathLst>
            </a:custGeom>
            <a:ln w="28574">
              <a:solidFill>
                <a:srgbClr val="0072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6724" y="4447746"/>
              <a:ext cx="162265" cy="14071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5950" y="4442475"/>
            <a:ext cx="239839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2000" dirty="0">
                <a:latin typeface="Consolas"/>
                <a:cs typeface="Consolas"/>
              </a:rPr>
              <a:t>make_and_enter</a:t>
            </a:r>
            <a:r>
              <a:rPr sz="2000" spc="-21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924" y="2228275"/>
            <a:ext cx="7231380" cy="2630170"/>
          </a:xfrm>
          <a:custGeom>
            <a:avLst/>
            <a:gdLst/>
            <a:ahLst/>
            <a:cxnLst/>
            <a:rect l="l" t="t" r="r" b="b"/>
            <a:pathLst>
              <a:path w="7231380" h="2630170">
                <a:moveTo>
                  <a:pt x="7231199" y="2630099"/>
                </a:moveTo>
                <a:lnTo>
                  <a:pt x="0" y="2630099"/>
                </a:lnTo>
                <a:lnTo>
                  <a:pt x="0" y="0"/>
                </a:lnTo>
                <a:lnTo>
                  <a:pt x="7231199" y="0"/>
                </a:lnTo>
                <a:lnTo>
                  <a:pt x="7231199" y="26300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dirty="0"/>
              <a:t>#!/usr/bin/env</a:t>
            </a:r>
            <a:r>
              <a:rPr spc="-225" dirty="0"/>
              <a:t> </a:t>
            </a:r>
            <a:r>
              <a:rPr spc="-20" dirty="0"/>
              <a:t>bash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20" dirty="0"/>
          </a:p>
          <a:p>
            <a:pPr marL="542925" marR="4627245" indent="-457200">
              <a:lnSpc>
                <a:spcPct val="100000"/>
              </a:lnSpc>
            </a:pPr>
            <a:r>
              <a:rPr dirty="0"/>
              <a:t>make_and_enter()</a:t>
            </a:r>
            <a:r>
              <a:rPr spc="-260" dirty="0"/>
              <a:t> </a:t>
            </a:r>
            <a:r>
              <a:rPr spc="-50" dirty="0"/>
              <a:t>{ </a:t>
            </a:r>
            <a:r>
              <a:rPr dirty="0"/>
              <a:t>mkdir</a:t>
            </a:r>
            <a:r>
              <a:rPr spc="-45" dirty="0"/>
              <a:t> </a:t>
            </a:r>
            <a:r>
              <a:rPr spc="-25" dirty="0"/>
              <a:t>-</a:t>
            </a:r>
            <a:r>
              <a:rPr dirty="0"/>
              <a:t>p</a:t>
            </a:r>
            <a:r>
              <a:rPr spc="-45" dirty="0"/>
              <a:t> </a:t>
            </a:r>
            <a:r>
              <a:rPr spc="-20" dirty="0"/>
              <a:t>"$1" </a:t>
            </a:r>
            <a:r>
              <a:rPr dirty="0"/>
              <a:t>cd</a:t>
            </a:r>
            <a:r>
              <a:rPr spc="-35" dirty="0"/>
              <a:t> </a:t>
            </a:r>
            <a:r>
              <a:rPr spc="-20" dirty="0"/>
              <a:t>"$1"</a:t>
            </a:r>
          </a:p>
          <a:p>
            <a:pPr marL="85725">
              <a:lnSpc>
                <a:spcPct val="100000"/>
              </a:lnSpc>
            </a:pPr>
            <a:r>
              <a:rPr spc="-50" dirty="0"/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3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mcd.sh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my_folder</a:t>
            </a:r>
            <a:endParaRPr sz="2000" dirty="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41514" y="3531991"/>
            <a:ext cx="734695" cy="915035"/>
            <a:chOff x="2041514" y="3531991"/>
            <a:chExt cx="734695" cy="915035"/>
          </a:xfrm>
        </p:grpSpPr>
        <p:sp>
          <p:nvSpPr>
            <p:cNvPr id="8" name="object 8"/>
            <p:cNvSpPr/>
            <p:nvPr/>
          </p:nvSpPr>
          <p:spPr>
            <a:xfrm>
              <a:off x="2146686" y="3867121"/>
              <a:ext cx="555625" cy="565785"/>
            </a:xfrm>
            <a:custGeom>
              <a:avLst/>
              <a:gdLst/>
              <a:ahLst/>
              <a:cxnLst/>
              <a:rect l="l" t="t" r="r" b="b"/>
              <a:pathLst>
                <a:path w="555625" h="565785">
                  <a:moveTo>
                    <a:pt x="555438" y="565303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72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1514" y="3760334"/>
              <a:ext cx="153125" cy="1541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58217" y="3670847"/>
              <a:ext cx="203200" cy="702310"/>
            </a:xfrm>
            <a:custGeom>
              <a:avLst/>
              <a:gdLst/>
              <a:ahLst/>
              <a:cxnLst/>
              <a:rect l="l" t="t" r="r" b="b"/>
              <a:pathLst>
                <a:path w="203200" h="702310">
                  <a:moveTo>
                    <a:pt x="203157" y="702302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72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8590" y="3531991"/>
              <a:ext cx="119253" cy="16625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85950" y="4442475"/>
            <a:ext cx="239839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2000" dirty="0">
                <a:latin typeface="Consolas"/>
                <a:cs typeface="Consolas"/>
              </a:rPr>
              <a:t>make_and_enter</a:t>
            </a:r>
            <a:r>
              <a:rPr sz="2000" spc="-21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Functions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5950" y="4442475"/>
            <a:ext cx="239839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2000" dirty="0">
                <a:latin typeface="Consolas"/>
                <a:cs typeface="Consolas"/>
              </a:rPr>
              <a:t>make_and_enter</a:t>
            </a:r>
            <a:r>
              <a:rPr sz="2000" spc="-21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3252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define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functions!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24" y="2228275"/>
            <a:ext cx="7231380" cy="26301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#!/usr/bin/env</a:t>
            </a:r>
            <a:r>
              <a:rPr sz="2000" spc="-22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542925" marR="4627245" indent="-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make_and_enter()</a:t>
            </a:r>
            <a:r>
              <a:rPr sz="2000" spc="-26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 </a:t>
            </a:r>
            <a:r>
              <a:rPr sz="2000" dirty="0">
                <a:latin typeface="Consolas"/>
                <a:cs typeface="Consolas"/>
              </a:rPr>
              <a:t>mkdir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p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 </a:t>
            </a:r>
            <a:r>
              <a:rPr sz="2000" dirty="0">
                <a:latin typeface="Consolas"/>
                <a:cs typeface="Consolas"/>
              </a:rPr>
              <a:t>cd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24" y="1567975"/>
            <a:ext cx="7231380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3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mcd.sh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my_folder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99931" y="1214499"/>
            <a:ext cx="1675764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my_folder.sh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191640"/>
            <a:ext cx="76682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40730" algn="l"/>
              </a:tabLst>
            </a:pPr>
            <a:r>
              <a:rPr sz="2000" b="1" spc="-95" dirty="0">
                <a:solidFill>
                  <a:srgbClr val="202124"/>
                </a:solidFill>
                <a:latin typeface="Tahoma"/>
                <a:cs typeface="Tahoma"/>
              </a:rPr>
              <a:t>Exercise</a:t>
            </a:r>
            <a:r>
              <a:rPr sz="2000" b="1" spc="-1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80" dirty="0">
                <a:solidFill>
                  <a:srgbClr val="202124"/>
                </a:solidFill>
                <a:latin typeface="Tahoma"/>
                <a:cs typeface="Tahoma"/>
              </a:rPr>
              <a:t>2:</a:t>
            </a:r>
            <a:r>
              <a:rPr sz="2000" b="1" spc="-1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Write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called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that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takes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30504" y="1565019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837575" y="304799"/>
                </a:moveTo>
                <a:lnTo>
                  <a:pt x="0" y="304799"/>
                </a:lnTo>
                <a:lnTo>
                  <a:pt x="0" y="0"/>
                </a:lnTo>
                <a:lnTo>
                  <a:pt x="837575" y="0"/>
                </a:lnTo>
                <a:lnTo>
                  <a:pt x="837575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4725" y="1542160"/>
            <a:ext cx="6551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arguments: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name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(e.g.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202124"/>
                </a:solidFill>
                <a:latin typeface="Consolas"/>
                <a:cs typeface="Consolas"/>
              </a:rPr>
              <a:t>ayelet</a:t>
            </a:r>
            <a:r>
              <a:rPr sz="2000" spc="-55" dirty="0">
                <a:solidFill>
                  <a:srgbClr val="202124"/>
                </a:solidFill>
                <a:latin typeface="Tahoma"/>
                <a:cs typeface="Tahoma"/>
              </a:rPr>
              <a:t>)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name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2109" y="1565019"/>
            <a:ext cx="5588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.txt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13637" y="1915539"/>
            <a:ext cx="1396365" cy="304800"/>
          </a:xfrm>
          <a:custGeom>
            <a:avLst/>
            <a:gdLst/>
            <a:ahLst/>
            <a:cxnLst/>
            <a:rect l="l" t="t" r="r" b="b"/>
            <a:pathLst>
              <a:path w="1396364" h="304800">
                <a:moveTo>
                  <a:pt x="1395958" y="304800"/>
                </a:moveTo>
                <a:lnTo>
                  <a:pt x="0" y="304800"/>
                </a:lnTo>
                <a:lnTo>
                  <a:pt x="0" y="0"/>
                </a:lnTo>
                <a:lnTo>
                  <a:pt x="1395958" y="0"/>
                </a:lnTo>
                <a:lnTo>
                  <a:pt x="1395958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86324" y="2266059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837575" y="304799"/>
                </a:moveTo>
                <a:lnTo>
                  <a:pt x="0" y="304799"/>
                </a:lnTo>
                <a:lnTo>
                  <a:pt x="0" y="0"/>
                </a:lnTo>
                <a:lnTo>
                  <a:pt x="837575" y="0"/>
                </a:lnTo>
                <a:lnTo>
                  <a:pt x="837575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46506" y="2616579"/>
            <a:ext cx="1396365" cy="304800"/>
          </a:xfrm>
          <a:custGeom>
            <a:avLst/>
            <a:gdLst/>
            <a:ahLst/>
            <a:cxnLst/>
            <a:rect l="l" t="t" r="r" b="b"/>
            <a:pathLst>
              <a:path w="1396365" h="304800">
                <a:moveTo>
                  <a:pt x="1395958" y="304800"/>
                </a:moveTo>
                <a:lnTo>
                  <a:pt x="0" y="304800"/>
                </a:lnTo>
                <a:lnTo>
                  <a:pt x="0" y="0"/>
                </a:lnTo>
                <a:lnTo>
                  <a:pt x="1395958" y="0"/>
                </a:lnTo>
                <a:lnTo>
                  <a:pt x="1395958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4725" y="1846960"/>
            <a:ext cx="783717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2000" spc="-15" dirty="0">
                <a:solidFill>
                  <a:srgbClr val="202124"/>
                </a:solidFill>
                <a:latin typeface="Tahoma"/>
                <a:cs typeface="Tahoma"/>
              </a:rPr>
              <a:t>ending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(e.g.</a:t>
            </a:r>
            <a:r>
              <a:rPr sz="2000" spc="-2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ayelet.txt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).</a:t>
            </a:r>
            <a:r>
              <a:rPr sz="2000" spc="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should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202124"/>
                </a:solidFill>
                <a:latin typeface="Tahoma"/>
                <a:cs typeface="Tahoma"/>
              </a:rPr>
              <a:t>call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202124"/>
                </a:solidFill>
                <a:latin typeface="Tahoma"/>
                <a:cs typeface="Tahoma"/>
              </a:rPr>
              <a:t>function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202124"/>
                </a:solidFill>
                <a:latin typeface="Tahoma"/>
                <a:cs typeface="Tahoma"/>
              </a:rPr>
              <a:t>creates</a:t>
            </a:r>
            <a:r>
              <a:rPr sz="2000" spc="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202124"/>
                </a:solidFill>
                <a:latin typeface="Tahoma"/>
                <a:cs typeface="Tahoma"/>
              </a:rPr>
              <a:t>folder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name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202124"/>
                </a:solidFill>
                <a:latin typeface="Tahoma"/>
                <a:cs typeface="Tahoma"/>
              </a:rPr>
              <a:t>first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argument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(e.g.</a:t>
            </a:r>
            <a:r>
              <a:rPr sz="2000" spc="-25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ayelet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)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202124"/>
                </a:solidFill>
                <a:latin typeface="Tahoma"/>
                <a:cs typeface="Tahoma"/>
              </a:rPr>
              <a:t>create</a:t>
            </a:r>
            <a:r>
              <a:rPr sz="2000" spc="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202124"/>
                </a:solidFill>
                <a:latin typeface="Tahoma"/>
                <a:cs typeface="Tahoma"/>
              </a:rPr>
              <a:t>file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202124"/>
                </a:solidFill>
                <a:latin typeface="Tahoma"/>
                <a:cs typeface="Tahoma"/>
              </a:rPr>
              <a:t>inside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name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202124"/>
                </a:solidFill>
                <a:latin typeface="Tahoma"/>
                <a:cs typeface="Tahoma"/>
              </a:rPr>
              <a:t>second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argument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(e.g.</a:t>
            </a:r>
            <a:r>
              <a:rPr sz="2000" spc="-25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Consolas"/>
                <a:cs typeface="Consolas"/>
              </a:rPr>
              <a:t>ayelet.txt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).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7821" y="3119499"/>
            <a:ext cx="8382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ayelet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725" y="3096639"/>
            <a:ext cx="78987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01180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02124"/>
                </a:solidFill>
                <a:latin typeface="Tahoma"/>
                <a:cs typeface="Tahoma"/>
              </a:rPr>
              <a:t>my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202124"/>
                </a:solidFill>
                <a:latin typeface="Tahoma"/>
                <a:cs typeface="Tahoma"/>
              </a:rPr>
              <a:t>name,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02124"/>
                </a:solidFill>
                <a:latin typeface="Tahoma"/>
                <a:cs typeface="Tahoma"/>
              </a:rPr>
              <a:t>my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function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would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create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named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file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34918" y="3470019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837574" y="304800"/>
                </a:moveTo>
                <a:lnTo>
                  <a:pt x="0" y="304800"/>
                </a:lnTo>
                <a:lnTo>
                  <a:pt x="0" y="0"/>
                </a:lnTo>
                <a:lnTo>
                  <a:pt x="837574" y="0"/>
                </a:lnTo>
                <a:lnTo>
                  <a:pt x="837574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96955" y="3470019"/>
            <a:ext cx="13963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ayelet.txt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384725" y="3447159"/>
            <a:ext cx="41713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8695" algn="l"/>
              </a:tabLst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named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inside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ayelet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26574" y="1819549"/>
            <a:ext cx="8282940" cy="295592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39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9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542925" marR="5678805" indent="-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make_my_folder()</a:t>
            </a:r>
            <a:r>
              <a:rPr sz="2000" spc="-26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 </a:t>
            </a:r>
            <a:r>
              <a:rPr sz="2000" dirty="0">
                <a:latin typeface="Consolas"/>
                <a:cs typeface="Consolas"/>
              </a:rPr>
              <a:t>mkdir</a:t>
            </a:r>
            <a:r>
              <a:rPr sz="2000" spc="-90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</a:t>
            </a:r>
            <a:endParaRPr sz="2000">
              <a:latin typeface="Consolas"/>
              <a:cs typeface="Consolas"/>
            </a:endParaRPr>
          </a:p>
          <a:p>
            <a:pPr marL="542925" marR="63373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cd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"$1" </a:t>
            </a:r>
            <a:r>
              <a:rPr sz="2000" dirty="0">
                <a:latin typeface="Consolas"/>
                <a:cs typeface="Consolas"/>
              </a:rPr>
              <a:t>touch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"$2"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make_my_folder</a:t>
            </a:r>
            <a:r>
              <a:rPr sz="2000" spc="-1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$1</a:t>
            </a:r>
            <a:r>
              <a:rPr sz="2000" spc="-13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$2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574" y="1194299"/>
            <a:ext cx="8282940" cy="387927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793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6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my_folder.sh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ayelet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ayelet.txt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63650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notion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25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b="1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rgbClr val="202124"/>
                </a:solidFill>
                <a:latin typeface="Tahoma"/>
                <a:cs typeface="Tahoma"/>
              </a:rPr>
              <a:t>codes</a:t>
            </a:r>
            <a:r>
              <a:rPr sz="2000" b="1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allows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verifying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02124"/>
                </a:solidFill>
                <a:latin typeface="Tahoma"/>
                <a:cs typeface="Tahoma"/>
              </a:rPr>
              <a:t>success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failure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a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previous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636509" cy="157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notion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25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b="1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rgbClr val="202124"/>
                </a:solidFill>
                <a:latin typeface="Tahoma"/>
                <a:cs typeface="Tahoma"/>
              </a:rPr>
              <a:t>codes</a:t>
            </a:r>
            <a:r>
              <a:rPr sz="2000" b="1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allows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verifying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02124"/>
                </a:solidFill>
                <a:latin typeface="Tahoma"/>
                <a:cs typeface="Tahoma"/>
              </a:rPr>
              <a:t>success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failure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a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previous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command.</a:t>
            </a:r>
            <a:endParaRPr sz="2000">
              <a:latin typeface="Tahoma"/>
              <a:cs typeface="Tahoma"/>
            </a:endParaRPr>
          </a:p>
          <a:p>
            <a:pPr marL="12700" marR="681355">
              <a:lnSpc>
                <a:spcPct val="114999"/>
              </a:lnSpc>
              <a:spcBef>
                <a:spcPts val="12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code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way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commands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can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communicate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each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about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execution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went.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0393" y="4768069"/>
            <a:ext cx="1778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66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756525" cy="243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5095">
              <a:lnSpc>
                <a:spcPct val="114999"/>
              </a:lnSpc>
              <a:spcBef>
                <a:spcPts val="1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notion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25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b="1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rgbClr val="202124"/>
                </a:solidFill>
                <a:latin typeface="Tahoma"/>
                <a:cs typeface="Tahoma"/>
              </a:rPr>
              <a:t>codes</a:t>
            </a:r>
            <a:r>
              <a:rPr sz="2000" b="1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allows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verifying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02124"/>
                </a:solidFill>
                <a:latin typeface="Tahoma"/>
                <a:cs typeface="Tahoma"/>
              </a:rPr>
              <a:t>success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failure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a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previous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command.</a:t>
            </a:r>
            <a:endParaRPr sz="2000">
              <a:latin typeface="Tahoma"/>
              <a:cs typeface="Tahoma"/>
            </a:endParaRPr>
          </a:p>
          <a:p>
            <a:pPr marL="12700" marR="802005">
              <a:lnSpc>
                <a:spcPct val="114999"/>
              </a:lnSpc>
              <a:spcBef>
                <a:spcPts val="12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code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way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commands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can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communicate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each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about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execution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went.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0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means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everything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went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OK.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other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0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means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error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occurred.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756525" cy="243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5095">
              <a:lnSpc>
                <a:spcPct val="114999"/>
              </a:lnSpc>
              <a:spcBef>
                <a:spcPts val="1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notion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25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b="1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rgbClr val="202124"/>
                </a:solidFill>
                <a:latin typeface="Tahoma"/>
                <a:cs typeface="Tahoma"/>
              </a:rPr>
              <a:t>codes</a:t>
            </a:r>
            <a:r>
              <a:rPr sz="2000" b="1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allows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verifying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02124"/>
                </a:solidFill>
                <a:latin typeface="Tahoma"/>
                <a:cs typeface="Tahoma"/>
              </a:rPr>
              <a:t>success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failure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a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previous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command.</a:t>
            </a:r>
            <a:endParaRPr sz="2000">
              <a:latin typeface="Tahoma"/>
              <a:cs typeface="Tahoma"/>
            </a:endParaRPr>
          </a:p>
          <a:p>
            <a:pPr marL="12700" marR="802005">
              <a:lnSpc>
                <a:spcPct val="114999"/>
              </a:lnSpc>
              <a:spcBef>
                <a:spcPts val="12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code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way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commands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can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communicate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each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about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how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execution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went.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0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means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everything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went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OK.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other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0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means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error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occurred.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3525" y="3751960"/>
            <a:ext cx="751268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provides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value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from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most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recently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250" y="3707524"/>
            <a:ext cx="4749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25" dirty="0">
                <a:latin typeface="Consolas"/>
                <a:cs typeface="Consolas"/>
              </a:rPr>
              <a:t>$?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85749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ever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placeholder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succeeds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fails,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true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false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85749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ever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placeholder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succeeds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fails,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true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false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9125" y="2045080"/>
            <a:ext cx="7112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does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nothing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except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status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0.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1525" y="2548000"/>
            <a:ext cx="70561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does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nothing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except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status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1.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799" y="2016249"/>
            <a:ext cx="79311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210"/>
              </a:spcBef>
            </a:pPr>
            <a:r>
              <a:rPr sz="2000" spc="-20" dirty="0">
                <a:latin typeface="Consolas"/>
                <a:cs typeface="Consolas"/>
              </a:rPr>
              <a:t>true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799" y="2512474"/>
            <a:ext cx="947419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210"/>
              </a:spcBef>
            </a:pPr>
            <a:r>
              <a:rPr sz="2000" spc="-10" dirty="0">
                <a:latin typeface="Consolas"/>
                <a:cs typeface="Consolas"/>
              </a:rPr>
              <a:t>false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3" name="object 3"/>
          <p:cNvSpPr/>
          <p:nvPr/>
        </p:nvSpPr>
        <p:spPr>
          <a:xfrm>
            <a:off x="412924" y="1694875"/>
            <a:ext cx="7982584" cy="3295015"/>
          </a:xfrm>
          <a:custGeom>
            <a:avLst/>
            <a:gdLst/>
            <a:ahLst/>
            <a:cxnLst/>
            <a:rect l="l" t="t" r="r" b="b"/>
            <a:pathLst>
              <a:path w="7982584" h="3295015">
                <a:moveTo>
                  <a:pt x="7982099" y="3294599"/>
                </a:moveTo>
                <a:lnTo>
                  <a:pt x="0" y="3294599"/>
                </a:lnTo>
                <a:lnTo>
                  <a:pt x="0" y="0"/>
                </a:lnTo>
                <a:lnTo>
                  <a:pt x="7982099" y="0"/>
                </a:lnTo>
                <a:lnTo>
                  <a:pt x="7982099" y="32945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5950" y="1710623"/>
            <a:ext cx="25425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#!/usr/bin/env</a:t>
            </a:r>
            <a:r>
              <a:rPr sz="1900" spc="-22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20" dirty="0">
                <a:solidFill>
                  <a:srgbClr val="111111"/>
                </a:solidFill>
                <a:latin typeface="Consolas"/>
                <a:cs typeface="Consolas"/>
              </a:rPr>
              <a:t>bash</a:t>
            </a:r>
            <a:endParaRPr sz="19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950" y="2289743"/>
            <a:ext cx="3072765" cy="263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111111"/>
                </a:solidFill>
                <a:latin typeface="Consolas"/>
                <a:cs typeface="Consolas"/>
              </a:rPr>
              <a:t>result=$(($RANDOM</a:t>
            </a:r>
            <a:r>
              <a:rPr sz="1900" spc="-5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%</a:t>
            </a:r>
            <a:r>
              <a:rPr sz="1900" spc="-5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25" dirty="0">
                <a:solidFill>
                  <a:srgbClr val="111111"/>
                </a:solidFill>
                <a:latin typeface="Consolas"/>
                <a:cs typeface="Consolas"/>
              </a:rPr>
              <a:t>2))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if</a:t>
            </a:r>
            <a:r>
              <a:rPr sz="1900" spc="-4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[</a:t>
            </a:r>
            <a:r>
              <a:rPr sz="1900" spc="-4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$result</a:t>
            </a:r>
            <a:r>
              <a:rPr sz="1900" spc="-4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25" dirty="0">
                <a:solidFill>
                  <a:srgbClr val="111111"/>
                </a:solidFill>
                <a:latin typeface="Consolas"/>
                <a:cs typeface="Consolas"/>
              </a:rPr>
              <a:t>-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eq</a:t>
            </a:r>
            <a:r>
              <a:rPr sz="1900" spc="-3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0</a:t>
            </a:r>
            <a:r>
              <a:rPr sz="1900" spc="-4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50" dirty="0">
                <a:solidFill>
                  <a:srgbClr val="111111"/>
                </a:solidFill>
                <a:latin typeface="Consolas"/>
                <a:cs typeface="Consolas"/>
              </a:rPr>
              <a:t>] </a:t>
            </a:r>
            <a:r>
              <a:rPr sz="1900" spc="-20" dirty="0">
                <a:solidFill>
                  <a:srgbClr val="111111"/>
                </a:solidFill>
                <a:latin typeface="Consolas"/>
                <a:cs typeface="Consolas"/>
              </a:rPr>
              <a:t>then</a:t>
            </a:r>
            <a:endParaRPr sz="19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sz="1900" spc="-20" dirty="0">
                <a:solidFill>
                  <a:srgbClr val="111111"/>
                </a:solidFill>
                <a:latin typeface="Consolas"/>
                <a:cs typeface="Consolas"/>
              </a:rPr>
              <a:t>true</a:t>
            </a:r>
            <a:endParaRPr sz="1900">
              <a:latin typeface="Consolas"/>
              <a:cs typeface="Consolas"/>
            </a:endParaRPr>
          </a:p>
          <a:p>
            <a:pPr marL="12700" marR="1402080" indent="457200">
              <a:lnSpc>
                <a:spcPct val="100000"/>
              </a:lnSpc>
            </a:pP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echo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20" dirty="0">
                <a:solidFill>
                  <a:srgbClr val="111111"/>
                </a:solidFill>
                <a:latin typeface="Consolas"/>
                <a:cs typeface="Consolas"/>
              </a:rPr>
              <a:t>"$?" else</a:t>
            </a:r>
            <a:endParaRPr sz="1900">
              <a:latin typeface="Consolas"/>
              <a:cs typeface="Consolas"/>
            </a:endParaRPr>
          </a:p>
          <a:p>
            <a:pPr marL="469900" marR="1402080">
              <a:lnSpc>
                <a:spcPct val="100000"/>
              </a:lnSpc>
            </a:pPr>
            <a:r>
              <a:rPr sz="1900" spc="-10" dirty="0">
                <a:solidFill>
                  <a:srgbClr val="111111"/>
                </a:solidFill>
                <a:latin typeface="Consolas"/>
                <a:cs typeface="Consolas"/>
              </a:rPr>
              <a:t>false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echo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20" dirty="0">
                <a:solidFill>
                  <a:srgbClr val="111111"/>
                </a:solidFill>
                <a:latin typeface="Consolas"/>
                <a:cs typeface="Consolas"/>
              </a:rPr>
              <a:t>"$?"</a:t>
            </a:r>
            <a:endParaRPr sz="1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900" spc="-25" dirty="0">
                <a:solidFill>
                  <a:srgbClr val="111111"/>
                </a:solidFill>
                <a:latin typeface="Consolas"/>
                <a:cs typeface="Consolas"/>
              </a:rPr>
              <a:t>fi</a:t>
            </a:r>
            <a:endParaRPr sz="19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924" y="1034575"/>
            <a:ext cx="7982584" cy="35714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488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85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sh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success_or_failure.sh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0393" y="4766036"/>
            <a:ext cx="1778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73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81685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values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useful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conditionally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on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execution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previous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816850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values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useful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conditionally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on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execution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previous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addition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if-statements,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conditionally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395600"/>
            <a:ext cx="18884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commands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6907" y="2395600"/>
            <a:ext cx="4292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0113" y="2395600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6025" y="2371050"/>
            <a:ext cx="4749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25" dirty="0">
                <a:latin typeface="Consolas"/>
                <a:cs typeface="Consolas"/>
              </a:rPr>
              <a:t>&amp;&amp;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5424" y="2371050"/>
            <a:ext cx="4749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25" dirty="0">
                <a:latin typeface="Consolas"/>
                <a:cs typeface="Consolas"/>
              </a:rPr>
              <a:t>||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816850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values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useful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conditionally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on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execution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previous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addition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if-statements,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conditionally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395600"/>
            <a:ext cx="18884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commands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6907" y="2395600"/>
            <a:ext cx="4292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0113" y="2395600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6025" y="2371050"/>
            <a:ext cx="4749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25" dirty="0">
                <a:latin typeface="Consolas"/>
                <a:cs typeface="Consolas"/>
              </a:rPr>
              <a:t>&amp;&amp;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5424" y="2371050"/>
            <a:ext cx="4749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25" dirty="0">
                <a:latin typeface="Consolas"/>
                <a:cs typeface="Consolas"/>
              </a:rPr>
              <a:t>||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799" y="2868024"/>
            <a:ext cx="6556375" cy="74676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090" marR="1030605">
              <a:lnSpc>
                <a:spcPct val="100000"/>
              </a:lnSpc>
              <a:spcBef>
                <a:spcPts val="225"/>
              </a:spcBef>
            </a:pP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true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&amp;&amp;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echo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"Print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if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things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went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111111"/>
                </a:solidFill>
                <a:latin typeface="Consolas"/>
                <a:cs typeface="Consolas"/>
              </a:rPr>
              <a:t>well!"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prints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"Print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if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things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went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999999"/>
                </a:solidFill>
                <a:latin typeface="Consolas"/>
                <a:cs typeface="Consolas"/>
              </a:rPr>
              <a:t>well!"</a:t>
            </a:r>
            <a:endParaRPr sz="1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5" dirty="0"/>
              <a:t> </a:t>
            </a:r>
            <a:r>
              <a:rPr spc="305" dirty="0"/>
              <a:t>Return</a:t>
            </a:r>
            <a:r>
              <a:rPr spc="160" dirty="0"/>
              <a:t> </a:t>
            </a:r>
            <a:r>
              <a:rPr spc="265" dirty="0"/>
              <a:t>Values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45919"/>
            <a:ext cx="7816850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Return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values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useful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conditionally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on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execution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previous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addition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if-statements,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conditionally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execute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395600"/>
            <a:ext cx="18884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commands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6907" y="2395600"/>
            <a:ext cx="4292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0113" y="2395600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6025" y="2371050"/>
            <a:ext cx="4749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25" dirty="0">
                <a:latin typeface="Consolas"/>
                <a:cs typeface="Consolas"/>
              </a:rPr>
              <a:t>&amp;&amp;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5424" y="2371050"/>
            <a:ext cx="4749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25" dirty="0">
                <a:latin typeface="Consolas"/>
                <a:cs typeface="Consolas"/>
              </a:rPr>
              <a:t>||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799" y="2868024"/>
            <a:ext cx="6556375" cy="74676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090" marR="1030605">
              <a:lnSpc>
                <a:spcPct val="100000"/>
              </a:lnSpc>
              <a:spcBef>
                <a:spcPts val="225"/>
              </a:spcBef>
            </a:pP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true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&amp;&amp;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echo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"Print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if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things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went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111111"/>
                </a:solidFill>
                <a:latin typeface="Consolas"/>
                <a:cs typeface="Consolas"/>
              </a:rPr>
              <a:t>well!"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prints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"Print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if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things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went</a:t>
            </a:r>
            <a:r>
              <a:rPr sz="1900" spc="-6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999999"/>
                </a:solidFill>
                <a:latin typeface="Consolas"/>
                <a:cs typeface="Consolas"/>
              </a:rPr>
              <a:t>well!"</a:t>
            </a:r>
            <a:endParaRPr sz="19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799" y="3850975"/>
            <a:ext cx="6556375" cy="74676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090" marR="898525">
              <a:lnSpc>
                <a:spcPct val="100000"/>
              </a:lnSpc>
              <a:spcBef>
                <a:spcPts val="225"/>
              </a:spcBef>
            </a:pP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false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&amp;&amp;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echo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"Print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if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things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went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111111"/>
                </a:solidFill>
                <a:latin typeface="Consolas"/>
                <a:cs typeface="Consolas"/>
              </a:rPr>
              <a:t>well!"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#</a:t>
            </a:r>
            <a:r>
              <a:rPr sz="19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999999"/>
                </a:solidFill>
                <a:latin typeface="Consolas"/>
                <a:cs typeface="Consolas"/>
              </a:rPr>
              <a:t>no</a:t>
            </a:r>
            <a:r>
              <a:rPr sz="1900" spc="-25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999999"/>
                </a:solidFill>
                <a:latin typeface="Consolas"/>
                <a:cs typeface="Consolas"/>
              </a:rPr>
              <a:t>output</a:t>
            </a:r>
            <a:endParaRPr sz="1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94853" y="1214499"/>
            <a:ext cx="209423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file_checker.sh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191640"/>
            <a:ext cx="775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54750" algn="l"/>
              </a:tabLst>
            </a:pPr>
            <a:r>
              <a:rPr sz="2000" b="1" spc="-95" dirty="0">
                <a:solidFill>
                  <a:srgbClr val="202124"/>
                </a:solidFill>
                <a:latin typeface="Tahoma"/>
                <a:cs typeface="Tahoma"/>
              </a:rPr>
              <a:t>Exercise</a:t>
            </a:r>
            <a:r>
              <a:rPr sz="2000" b="1" spc="-1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00" dirty="0">
                <a:solidFill>
                  <a:srgbClr val="202124"/>
                </a:solidFill>
                <a:latin typeface="Tahoma"/>
                <a:cs typeface="Tahoma"/>
              </a:rPr>
              <a:t>3:</a:t>
            </a:r>
            <a:r>
              <a:rPr sz="2000" b="1" spc="-1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Write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called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that</a:t>
            </a:r>
            <a:r>
              <a:rPr sz="2000" spc="-1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checks</a:t>
            </a:r>
            <a:r>
              <a:rPr sz="2000" spc="-10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542160"/>
            <a:ext cx="77647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file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exists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not.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take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file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name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argument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try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1331" y="191553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cat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1892680"/>
            <a:ext cx="7797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6020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on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file.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should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exit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code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425" y="226605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cat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4312" y="2243199"/>
            <a:ext cx="7282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determine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file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exists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not.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file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exists,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8935" y="2616579"/>
            <a:ext cx="1675764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File</a:t>
            </a:r>
            <a:r>
              <a:rPr sz="2000" spc="-65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exists!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725" y="2593719"/>
            <a:ext cx="760158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8879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should</a:t>
            </a:r>
            <a:r>
              <a:rPr sz="2000" spc="-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print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55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file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does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exist,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265" y="2967099"/>
            <a:ext cx="279209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File</a:t>
            </a:r>
            <a:r>
              <a:rPr sz="2000" spc="-60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does</a:t>
            </a:r>
            <a:r>
              <a:rPr sz="2000" spc="-60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not</a:t>
            </a:r>
            <a:r>
              <a:rPr sz="2000" spc="-60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exist!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725" y="2944239"/>
            <a:ext cx="4244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61154" algn="l"/>
              </a:tabLst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should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print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48723" y="347001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cat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725" y="3447159"/>
            <a:ext cx="77520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33234" algn="l"/>
              </a:tabLst>
            </a:pPr>
            <a:r>
              <a:rPr sz="2000" b="1" spc="-125" dirty="0">
                <a:solidFill>
                  <a:srgbClr val="202124"/>
                </a:solidFill>
                <a:latin typeface="Tahoma"/>
                <a:cs typeface="Tahoma"/>
              </a:rPr>
              <a:t>Bonus:</a:t>
            </a:r>
            <a:r>
              <a:rPr sz="2000" b="1" spc="-13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change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suppress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actual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output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only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27639" y="3820539"/>
            <a:ext cx="1675764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File</a:t>
            </a:r>
            <a:r>
              <a:rPr sz="2000" spc="-65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exists!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725" y="3797679"/>
            <a:ext cx="5513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8595" algn="l"/>
              </a:tabLst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include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script's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output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(e.g.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35145" y="3820539"/>
            <a:ext cx="181483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File</a:t>
            </a:r>
            <a:r>
              <a:rPr sz="2000" spc="-65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does</a:t>
            </a:r>
            <a:r>
              <a:rPr sz="2000" spc="-65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not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7425" y="4171059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837575" y="304800"/>
                </a:moveTo>
                <a:lnTo>
                  <a:pt x="0" y="304800"/>
                </a:lnTo>
                <a:lnTo>
                  <a:pt x="0" y="0"/>
                </a:lnTo>
                <a:lnTo>
                  <a:pt x="837575" y="0"/>
                </a:lnTo>
                <a:lnTo>
                  <a:pt x="837575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84725" y="4148199"/>
            <a:ext cx="10001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202124"/>
                </a:solidFill>
                <a:latin typeface="Consolas"/>
                <a:cs typeface="Consolas"/>
              </a:rPr>
              <a:t>exist!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).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0393" y="4768069"/>
            <a:ext cx="1778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76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574" y="1287450"/>
            <a:ext cx="7677784" cy="288798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cat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$1</a:t>
            </a:r>
            <a:endParaRPr sz="2000">
              <a:latin typeface="Consolas"/>
              <a:cs typeface="Consolas"/>
            </a:endParaRPr>
          </a:p>
          <a:p>
            <a:pPr marL="85725" marR="549211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$?</a:t>
            </a:r>
            <a:r>
              <a:rPr sz="2000" spc="-25" dirty="0">
                <a:latin typeface="Consolas"/>
                <a:cs typeface="Consolas"/>
              </a:rPr>
              <a:t> -</a:t>
            </a:r>
            <a:r>
              <a:rPr sz="2000" dirty="0">
                <a:latin typeface="Consolas"/>
                <a:cs typeface="Consolas"/>
              </a:rPr>
              <a:t>eq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0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85725" marR="4477385" indent="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"File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exists!" </a:t>
            </a:r>
            <a:r>
              <a:rPr sz="2000" spc="-20" dirty="0">
                <a:latin typeface="Consolas"/>
                <a:cs typeface="Consolas"/>
              </a:rPr>
              <a:t>else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"File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does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not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exist!"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26574" y="1287450"/>
            <a:ext cx="7677784" cy="288798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 marR="493331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cat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$1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&amp;&gt;</a:t>
            </a:r>
            <a:r>
              <a:rPr sz="2000" b="1" spc="-4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/dev/null </a:t>
            </a:r>
            <a:r>
              <a:rPr sz="2000" dirty="0">
                <a:latin typeface="Consolas"/>
                <a:cs typeface="Consolas"/>
              </a:rPr>
              <a:t>if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$?</a:t>
            </a:r>
            <a:r>
              <a:rPr sz="2000" spc="-25" dirty="0">
                <a:latin typeface="Consolas"/>
                <a:cs typeface="Consolas"/>
              </a:rPr>
              <a:t> -</a:t>
            </a:r>
            <a:r>
              <a:rPr sz="2000" dirty="0">
                <a:latin typeface="Consolas"/>
                <a:cs typeface="Consolas"/>
              </a:rPr>
              <a:t>eq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0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85725" marR="4477385" indent="4572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"File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exists!" </a:t>
            </a:r>
            <a:r>
              <a:rPr sz="2000" spc="-20" dirty="0">
                <a:latin typeface="Consolas"/>
                <a:cs typeface="Consolas"/>
              </a:rPr>
              <a:t>else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"File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does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not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exist!"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26574" y="1287450"/>
            <a:ext cx="7677784" cy="143891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cat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$1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&amp;&amp;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"File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exists!"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cat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$1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||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"File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does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not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exist!"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26574" y="1287450"/>
            <a:ext cx="7677784" cy="143891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cat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$1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&amp;&gt;</a:t>
            </a:r>
            <a:r>
              <a:rPr sz="2000" b="1" spc="-6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/dev/null</a:t>
            </a:r>
            <a:r>
              <a:rPr sz="2000" b="1" spc="-4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&amp;&amp;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"File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exists!"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cat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$1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&amp;&gt;</a:t>
            </a:r>
            <a:r>
              <a:rPr sz="2000" b="1" spc="-6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/dev/null</a:t>
            </a:r>
            <a:r>
              <a:rPr sz="2000" b="1" spc="-4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||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"File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does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not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exist!"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5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20" dirty="0"/>
              <a:t>Command</a:t>
            </a:r>
            <a:r>
              <a:rPr spc="155" dirty="0"/>
              <a:t> </a:t>
            </a:r>
            <a:r>
              <a:rPr spc="305" dirty="0"/>
              <a:t>Substitution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7696834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9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14" dirty="0">
                <a:solidFill>
                  <a:srgbClr val="202124"/>
                </a:solidFill>
                <a:latin typeface="Tahoma"/>
                <a:cs typeface="Tahoma"/>
              </a:rPr>
              <a:t>substitution</a:t>
            </a:r>
            <a:r>
              <a:rPr sz="2000" b="1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another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useful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feature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scripting.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might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02124"/>
                </a:solidFill>
                <a:latin typeface="Tahoma"/>
                <a:cs typeface="Tahoma"/>
              </a:rPr>
              <a:t>its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output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some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piece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code.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5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20" dirty="0"/>
              <a:t>Command</a:t>
            </a:r>
            <a:r>
              <a:rPr spc="155" dirty="0"/>
              <a:t> </a:t>
            </a:r>
            <a:r>
              <a:rPr spc="305" dirty="0"/>
              <a:t>Substitution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7696834" cy="168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9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14" dirty="0">
                <a:solidFill>
                  <a:srgbClr val="202124"/>
                </a:solidFill>
                <a:latin typeface="Tahoma"/>
                <a:cs typeface="Tahoma"/>
              </a:rPr>
              <a:t>substitution</a:t>
            </a:r>
            <a:r>
              <a:rPr sz="2000" b="1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another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useful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feature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scripting.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might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want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02124"/>
                </a:solidFill>
                <a:latin typeface="Tahoma"/>
                <a:cs typeface="Tahoma"/>
              </a:rPr>
              <a:t>its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output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some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other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piece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16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code.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b="1" spc="-10" dirty="0">
                <a:solidFill>
                  <a:srgbClr val="202124"/>
                </a:solidFill>
                <a:latin typeface="Tahoma"/>
                <a:cs typeface="Tahoma"/>
              </a:rPr>
              <a:t>Example: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250" y="2951124"/>
            <a:ext cx="7982584" cy="194373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9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1900" spc="-220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19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1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Consolas"/>
              <a:cs typeface="Consolas"/>
            </a:endParaRPr>
          </a:p>
          <a:p>
            <a:pPr marL="542925" marR="3914140" indent="-4572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for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element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in</a:t>
            </a:r>
            <a:r>
              <a:rPr sz="1900" spc="-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$(ls</a:t>
            </a:r>
            <a:r>
              <a:rPr sz="1900" spc="-6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111111"/>
                </a:solidFill>
                <a:latin typeface="Consolas"/>
                <a:cs typeface="Consolas"/>
              </a:rPr>
              <a:t>~/Desktop) </a:t>
            </a:r>
            <a:r>
              <a:rPr sz="1900" spc="-25" dirty="0">
                <a:solidFill>
                  <a:srgbClr val="111111"/>
                </a:solidFill>
                <a:latin typeface="Consolas"/>
                <a:cs typeface="Consolas"/>
              </a:rPr>
              <a:t>do</a:t>
            </a:r>
            <a:endParaRPr sz="1900">
              <a:latin typeface="Consolas"/>
              <a:cs typeface="Consolas"/>
            </a:endParaRPr>
          </a:p>
          <a:p>
            <a:pPr marL="542925" marR="1277620" indent="457200">
              <a:lnSpc>
                <a:spcPct val="100000"/>
              </a:lnSpc>
            </a:pP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echo</a:t>
            </a:r>
            <a:r>
              <a:rPr sz="1900" spc="-9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"Desktop</a:t>
            </a:r>
            <a:r>
              <a:rPr sz="1900" spc="-9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contains</a:t>
            </a:r>
            <a:r>
              <a:rPr sz="1900" spc="-9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file</a:t>
            </a:r>
            <a:r>
              <a:rPr sz="1900" spc="-9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111111"/>
                </a:solidFill>
                <a:latin typeface="Consolas"/>
                <a:cs typeface="Consolas"/>
              </a:rPr>
              <a:t>named</a:t>
            </a:r>
            <a:r>
              <a:rPr sz="1900" spc="-90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solidFill>
                  <a:srgbClr val="111111"/>
                </a:solidFill>
                <a:latin typeface="Consolas"/>
                <a:cs typeface="Consolas"/>
              </a:rPr>
              <a:t>$element" </a:t>
            </a:r>
            <a:r>
              <a:rPr sz="1900" spc="-20" dirty="0">
                <a:solidFill>
                  <a:srgbClr val="111111"/>
                </a:solidFill>
                <a:latin typeface="Consolas"/>
                <a:cs typeface="Consolas"/>
              </a:rPr>
              <a:t>done</a:t>
            </a:r>
            <a:endParaRPr sz="1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5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35" dirty="0"/>
              <a:t>Extra</a:t>
            </a:r>
            <a:r>
              <a:rPr spc="160" dirty="0"/>
              <a:t> </a:t>
            </a:r>
            <a:r>
              <a:rPr spc="30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708152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has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some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02124"/>
                </a:solidFill>
                <a:latin typeface="Tahoma"/>
                <a:cs typeface="Tahoma"/>
              </a:rPr>
              <a:t>specific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syntax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worth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out.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you're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ever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stuck,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look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something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up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389" y="1635057"/>
            <a:ext cx="316136" cy="2975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649" y="1953049"/>
            <a:ext cx="3488690" cy="163703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 marR="1163320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#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do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something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6074" y="1953049"/>
            <a:ext cx="3488690" cy="163703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 marR="88455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]]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#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do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something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975" y="3966110"/>
            <a:ext cx="2567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80" dirty="0">
                <a:solidFill>
                  <a:srgbClr val="0072F9"/>
                </a:solidFill>
                <a:latin typeface="Tahoma"/>
                <a:cs typeface="Tahoma"/>
              </a:rPr>
              <a:t>What's</a:t>
            </a:r>
            <a:r>
              <a:rPr sz="2000" b="1" spc="-155" dirty="0">
                <a:solidFill>
                  <a:srgbClr val="0072F9"/>
                </a:solidFill>
                <a:latin typeface="Tahoma"/>
                <a:cs typeface="Tahoma"/>
              </a:rPr>
              <a:t> </a:t>
            </a:r>
            <a:r>
              <a:rPr sz="2000" b="1" spc="-130" dirty="0">
                <a:solidFill>
                  <a:srgbClr val="0072F9"/>
                </a:solidFill>
                <a:latin typeface="Tahoma"/>
                <a:cs typeface="Tahoma"/>
              </a:rPr>
              <a:t>the</a:t>
            </a:r>
            <a:r>
              <a:rPr sz="2000" b="1" spc="-150" dirty="0">
                <a:solidFill>
                  <a:srgbClr val="0072F9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rgbClr val="0072F9"/>
                </a:solidFill>
                <a:latin typeface="Tahoma"/>
                <a:cs typeface="Tahoma"/>
              </a:rPr>
              <a:t>difference?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649" y="1953049"/>
            <a:ext cx="3488690" cy="163703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 marR="1163320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#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do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something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6074" y="1953049"/>
            <a:ext cx="3488690" cy="163703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 marR="88455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]]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#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do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something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70393" y="4768069"/>
            <a:ext cx="1778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86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649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6074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]]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649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spc="-25" dirty="0">
                <a:latin typeface="Consolas"/>
                <a:cs typeface="Consolas"/>
              </a:rPr>
              <a:t>if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1574" y="1918874"/>
            <a:ext cx="2066925" cy="511175"/>
          </a:xfrm>
          <a:prstGeom prst="rect">
            <a:avLst/>
          </a:prstGeom>
          <a:solidFill>
            <a:srgbClr val="F3F3F3"/>
          </a:solidFill>
          <a:ln w="38099">
            <a:solidFill>
              <a:srgbClr val="0072F9"/>
            </a:solidFill>
          </a:ln>
        </p:spPr>
        <p:txBody>
          <a:bodyPr vert="horz" wrap="square" lIns="0" tIns="62229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489"/>
              </a:spcBef>
            </a:pPr>
            <a:r>
              <a:rPr sz="2000" dirty="0">
                <a:latin typeface="Consolas"/>
                <a:cs typeface="Consolas"/>
              </a:rPr>
              <a:t>[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6074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]]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84775" y="2429774"/>
            <a:ext cx="254635" cy="517525"/>
          </a:xfrm>
          <a:custGeom>
            <a:avLst/>
            <a:gdLst/>
            <a:ahLst/>
            <a:cxnLst/>
            <a:rect l="l" t="t" r="r" b="b"/>
            <a:pathLst>
              <a:path w="254635" h="517525">
                <a:moveTo>
                  <a:pt x="0" y="0"/>
                </a:moveTo>
                <a:lnTo>
                  <a:pt x="254099" y="517199"/>
                </a:lnTo>
              </a:path>
            </a:pathLst>
          </a:custGeom>
          <a:ln w="38099">
            <a:solidFill>
              <a:srgbClr val="268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7674" y="3009965"/>
            <a:ext cx="23075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Single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brackets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are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a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r>
              <a:rPr spc="-25" dirty="0"/>
              <a:t>60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02750" y="3337624"/>
            <a:ext cx="5588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0" dirty="0">
                <a:latin typeface="Consolas"/>
                <a:cs typeface="Consolas"/>
              </a:rPr>
              <a:t>test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7674" y="3314765"/>
            <a:ext cx="22002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reference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the </a:t>
            </a:r>
            <a:r>
              <a:rPr sz="2000" spc="-10" dirty="0">
                <a:latin typeface="Tahoma"/>
                <a:cs typeface="Tahoma"/>
              </a:rPr>
              <a:t>command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649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spc="-25" dirty="0">
                <a:latin typeface="Consolas"/>
                <a:cs typeface="Consolas"/>
              </a:rPr>
              <a:t>if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1574" y="1918874"/>
            <a:ext cx="2066925" cy="511175"/>
          </a:xfrm>
          <a:prstGeom prst="rect">
            <a:avLst/>
          </a:prstGeom>
          <a:solidFill>
            <a:srgbClr val="F3F3F3"/>
          </a:solidFill>
          <a:ln w="38099">
            <a:solidFill>
              <a:srgbClr val="0072F9"/>
            </a:solidFill>
          </a:ln>
        </p:spPr>
        <p:txBody>
          <a:bodyPr vert="horz" wrap="square" lIns="0" tIns="62229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489"/>
              </a:spcBef>
            </a:pPr>
            <a:r>
              <a:rPr sz="2000" dirty="0">
                <a:latin typeface="Consolas"/>
                <a:cs typeface="Consolas"/>
              </a:rPr>
              <a:t>[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8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6074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spc="-25" dirty="0">
                <a:latin typeface="Consolas"/>
                <a:cs typeface="Consolas"/>
              </a:rPr>
              <a:t>if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5699" y="1918874"/>
            <a:ext cx="2168525" cy="511175"/>
          </a:xfrm>
          <a:prstGeom prst="rect">
            <a:avLst/>
          </a:prstGeom>
          <a:solidFill>
            <a:srgbClr val="F3F3F3"/>
          </a:solidFill>
          <a:ln w="38099">
            <a:solidFill>
              <a:srgbClr val="0072F9"/>
            </a:solidFill>
          </a:ln>
        </p:spPr>
        <p:txBody>
          <a:bodyPr vert="horz" wrap="square" lIns="0" tIns="62229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489"/>
              </a:spcBef>
            </a:pPr>
            <a:r>
              <a:rPr sz="2000" dirty="0">
                <a:latin typeface="Consolas"/>
                <a:cs typeface="Consolas"/>
              </a:rPr>
              <a:t>[[</a:t>
            </a:r>
            <a:r>
              <a:rPr sz="2000" spc="-9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9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]]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84775" y="2429774"/>
            <a:ext cx="254635" cy="517525"/>
          </a:xfrm>
          <a:custGeom>
            <a:avLst/>
            <a:gdLst/>
            <a:ahLst/>
            <a:cxnLst/>
            <a:rect l="l" t="t" r="r" b="b"/>
            <a:pathLst>
              <a:path w="254635" h="517525">
                <a:moveTo>
                  <a:pt x="0" y="0"/>
                </a:moveTo>
                <a:lnTo>
                  <a:pt x="254099" y="517199"/>
                </a:lnTo>
              </a:path>
            </a:pathLst>
          </a:custGeom>
          <a:ln w="38099">
            <a:solidFill>
              <a:srgbClr val="268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7674" y="3009965"/>
            <a:ext cx="23075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Single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brackets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are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a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2750" y="3337624"/>
            <a:ext cx="5588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0" dirty="0">
                <a:latin typeface="Consolas"/>
                <a:cs typeface="Consolas"/>
              </a:rPr>
              <a:t>test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7674" y="3314765"/>
            <a:ext cx="22002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reference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the </a:t>
            </a:r>
            <a:r>
              <a:rPr sz="2000" spc="-10" dirty="0">
                <a:latin typeface="Tahoma"/>
                <a:cs typeface="Tahoma"/>
              </a:rPr>
              <a:t>command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29750" y="2429774"/>
            <a:ext cx="304800" cy="517525"/>
          </a:xfrm>
          <a:custGeom>
            <a:avLst/>
            <a:gdLst/>
            <a:ahLst/>
            <a:cxnLst/>
            <a:rect l="l" t="t" r="r" b="b"/>
            <a:pathLst>
              <a:path w="304800" h="517525">
                <a:moveTo>
                  <a:pt x="0" y="0"/>
                </a:moveTo>
                <a:lnTo>
                  <a:pt x="304799" y="517199"/>
                </a:lnTo>
              </a:path>
            </a:pathLst>
          </a:custGeom>
          <a:ln w="38099">
            <a:solidFill>
              <a:srgbClr val="268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63474" y="3009965"/>
            <a:ext cx="31191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40" dirty="0">
                <a:latin typeface="Tahoma"/>
                <a:cs typeface="Tahoma"/>
              </a:rPr>
              <a:t>Double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brackets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are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bash </a:t>
            </a:r>
            <a:r>
              <a:rPr sz="2000" dirty="0">
                <a:latin typeface="Tahoma"/>
                <a:cs typeface="Tahoma"/>
              </a:rPr>
              <a:t>specific.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(Also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works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for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zsh)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r>
              <a:rPr spc="-25" dirty="0"/>
              <a:t>61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r>
              <a:rPr spc="-25" dirty="0"/>
              <a:t>62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649" y="1953049"/>
            <a:ext cx="3965575" cy="140843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&lt;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2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"Correct!"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1374" y="1953049"/>
            <a:ext cx="3965575" cy="140843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&lt;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2</a:t>
            </a:r>
            <a:r>
              <a:rPr sz="2000" spc="-25" dirty="0">
                <a:latin typeface="Consolas"/>
                <a:cs typeface="Consolas"/>
              </a:rPr>
              <a:t> ]]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"Correct!"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r>
              <a:rPr spc="-25" dirty="0"/>
              <a:t>63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649" y="1953049"/>
            <a:ext cx="3965575" cy="140843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&lt;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2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"Correct!"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1374" y="1953049"/>
            <a:ext cx="3965575" cy="140843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&lt;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2</a:t>
            </a:r>
            <a:r>
              <a:rPr sz="2000" spc="-25" dirty="0">
                <a:latin typeface="Consolas"/>
                <a:cs typeface="Consolas"/>
              </a:rPr>
              <a:t> ]]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"Correct!"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r>
              <a:rPr spc="-25" dirty="0"/>
              <a:t>64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4649" y="1953049"/>
          <a:ext cx="8263253" cy="245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4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07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if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[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]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Consolas"/>
                          <a:cs typeface="Consolas"/>
                        </a:rPr>
                        <a:t>then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echo</a:t>
                      </a:r>
                      <a:r>
                        <a:rPr sz="2000" spc="-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"Correct!"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Consolas"/>
                          <a:cs typeface="Consolas"/>
                        </a:rPr>
                        <a:t>fi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812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if</a:t>
                      </a:r>
                      <a:r>
                        <a:rPr sz="200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[[</a:t>
                      </a:r>
                      <a:r>
                        <a:rPr sz="20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60" dirty="0">
                          <a:latin typeface="Consolas"/>
                          <a:cs typeface="Consolas"/>
                        </a:rPr>
                        <a:t>1 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then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Consolas"/>
                          <a:cs typeface="Consolas"/>
                        </a:rPr>
                        <a:t>echo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Consolas"/>
                          <a:cs typeface="Consolas"/>
                        </a:rPr>
                        <a:t>fi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]]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onsolas"/>
                          <a:cs typeface="Consolas"/>
                        </a:rPr>
                        <a:t>"Correct!"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135">
                <a:tc>
                  <a:txBody>
                    <a:bodyPr/>
                    <a:lstStyle/>
                    <a:p>
                      <a:pPr marL="85725" marR="136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2: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No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such</a:t>
                      </a:r>
                      <a:r>
                        <a:rPr sz="20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file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or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directory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r>
              <a:rPr spc="-25" dirty="0"/>
              <a:t>65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4649" y="1956599"/>
          <a:ext cx="3965575" cy="1384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if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[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&lt;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5080" marB="0">
                    <a:lnR w="38100">
                      <a:solidFill>
                        <a:srgbClr val="FF0000"/>
                      </a:solidFill>
                      <a:prstDash val="solid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000" spc="-50" dirty="0">
                          <a:latin typeface="Consolas"/>
                          <a:cs typeface="Consolas"/>
                        </a:rPr>
                        <a:t>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508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000" spc="-50" dirty="0">
                          <a:latin typeface="Consolas"/>
                          <a:cs typeface="Consolas"/>
                        </a:rPr>
                        <a:t>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5080" marB="0">
                    <a:lnL w="38100">
                      <a:solidFill>
                        <a:srgbClr val="FF0000"/>
                      </a:solidFill>
                      <a:prstDash val="solid"/>
                    </a:lnL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860">
                <a:tc gridSpan="3">
                  <a:txBody>
                    <a:bodyPr/>
                    <a:lstStyle/>
                    <a:p>
                      <a:pPr marL="85725">
                        <a:lnSpc>
                          <a:spcPts val="2115"/>
                        </a:lnSpc>
                      </a:pPr>
                      <a:r>
                        <a:rPr sz="2000" spc="-20" dirty="0">
                          <a:latin typeface="Consolas"/>
                          <a:cs typeface="Consolas"/>
                        </a:rPr>
                        <a:t>then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echo</a:t>
                      </a:r>
                      <a:r>
                        <a:rPr sz="2000" spc="-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"Correct!"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Consolas"/>
                          <a:cs typeface="Consolas"/>
                        </a:rPr>
                        <a:t>fi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691374" y="1953049"/>
            <a:ext cx="3965575" cy="140843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&lt;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2</a:t>
            </a:r>
            <a:r>
              <a:rPr sz="2000" spc="-25" dirty="0">
                <a:latin typeface="Consolas"/>
                <a:cs typeface="Consolas"/>
              </a:rPr>
              <a:t> ]]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"Correct!"</a:t>
            </a:r>
            <a:endParaRPr sz="20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649" y="3581499"/>
            <a:ext cx="3965575" cy="826769"/>
          </a:xfrm>
          <a:prstGeom prst="rect">
            <a:avLst/>
          </a:prstGeom>
          <a:solidFill>
            <a:srgbClr val="F4CCCC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 marR="1361440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2: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No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such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file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or </a:t>
            </a:r>
            <a:r>
              <a:rPr sz="2000" spc="-10" dirty="0">
                <a:latin typeface="Consolas"/>
                <a:cs typeface="Consolas"/>
              </a:rPr>
              <a:t>directory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91374" y="3581499"/>
            <a:ext cx="3965575" cy="483870"/>
          </a:xfrm>
          <a:custGeom>
            <a:avLst/>
            <a:gdLst/>
            <a:ahLst/>
            <a:cxnLst/>
            <a:rect l="l" t="t" r="r" b="b"/>
            <a:pathLst>
              <a:path w="3965575" h="483870">
                <a:moveTo>
                  <a:pt x="3965399" y="483299"/>
                </a:moveTo>
                <a:lnTo>
                  <a:pt x="0" y="483299"/>
                </a:lnTo>
                <a:lnTo>
                  <a:pt x="0" y="0"/>
                </a:lnTo>
                <a:lnTo>
                  <a:pt x="3965399" y="0"/>
                </a:lnTo>
                <a:lnTo>
                  <a:pt x="3965399" y="4832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94649" y="1953049"/>
          <a:ext cx="8262619" cy="245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4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07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if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[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1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]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Consolas"/>
                          <a:cs typeface="Consolas"/>
                        </a:rPr>
                        <a:t>then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echo</a:t>
                      </a:r>
                      <a:r>
                        <a:rPr sz="2000" spc="-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"Correct!"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Consolas"/>
                          <a:cs typeface="Consolas"/>
                        </a:rPr>
                        <a:t>fi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1314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if</a:t>
                      </a:r>
                      <a:r>
                        <a:rPr sz="200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[[</a:t>
                      </a:r>
                      <a:r>
                        <a:rPr sz="20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60" dirty="0">
                          <a:latin typeface="Consolas"/>
                          <a:cs typeface="Consolas"/>
                        </a:rPr>
                        <a:t>1 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then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Consolas"/>
                          <a:cs typeface="Consolas"/>
                        </a:rPr>
                        <a:t>echo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Consolas"/>
                          <a:cs typeface="Consolas"/>
                        </a:rPr>
                        <a:t>fi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20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]]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8735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onsolas"/>
                          <a:cs typeface="Consolas"/>
                        </a:rPr>
                        <a:t>"Correct!"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135">
                <a:tc>
                  <a:txBody>
                    <a:bodyPr/>
                    <a:lstStyle/>
                    <a:p>
                      <a:pPr marL="85725" marR="136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2: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No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such</a:t>
                      </a:r>
                      <a:r>
                        <a:rPr sz="20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file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or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directory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10" dirty="0">
                          <a:latin typeface="Consolas"/>
                          <a:cs typeface="Consolas"/>
                        </a:rPr>
                        <a:t>Correct!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r>
              <a:rPr spc="-25" dirty="0"/>
              <a:t>66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r>
              <a:rPr spc="-25" dirty="0"/>
              <a:t>67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649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6074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]]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0"/>
              </a:spcBef>
            </a:pPr>
            <a:r>
              <a:rPr spc="-25" dirty="0"/>
              <a:t>68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975" y="2457350"/>
            <a:ext cx="8152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general,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single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brackets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recognized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more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languages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3266" y="283072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975" y="2807870"/>
            <a:ext cx="81978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1995" algn="l"/>
              </a:tabLst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POSIX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compliant.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02124"/>
                </a:solidFill>
                <a:latin typeface="Tahoma"/>
                <a:cs typeface="Tahoma"/>
              </a:rPr>
              <a:t>(Won't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work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interpreter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unless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linked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bash.)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649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66074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]]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50" dirty="0"/>
              <a:t> </a:t>
            </a:r>
            <a:r>
              <a:rPr spc="290" dirty="0"/>
              <a:t>Scripting:</a:t>
            </a:r>
            <a:r>
              <a:rPr spc="155" dirty="0"/>
              <a:t> </a:t>
            </a:r>
            <a:r>
              <a:rPr spc="300" dirty="0"/>
              <a:t>[</a:t>
            </a:r>
            <a:r>
              <a:rPr spc="155" dirty="0"/>
              <a:t> </a:t>
            </a:r>
            <a:r>
              <a:rPr spc="295" dirty="0"/>
              <a:t>vs</a:t>
            </a:r>
            <a:r>
              <a:rPr spc="155" dirty="0"/>
              <a:t> </a:t>
            </a:r>
            <a:r>
              <a:rPr spc="275" dirty="0"/>
              <a:t>[[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055270"/>
            <a:ext cx="82118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When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if-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statement,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encapsulate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condition.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You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ways: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975" y="2457350"/>
            <a:ext cx="8152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general,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single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brackets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recognized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more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scripting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languages</a:t>
            </a:r>
            <a:r>
              <a:rPr sz="2000" spc="-16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3266" y="283072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975" y="2807870"/>
            <a:ext cx="81978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1995" algn="l"/>
              </a:tabLst>
            </a:pP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POSIX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compliant.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02124"/>
                </a:solidFill>
                <a:latin typeface="Tahoma"/>
                <a:cs typeface="Tahoma"/>
              </a:rPr>
              <a:t>(Won't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work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interpreter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unless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linked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bash.)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975" y="3265069"/>
            <a:ext cx="831977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Double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brackets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are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less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portable,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but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they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align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with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what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would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expect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from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high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level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coding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languages.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comparison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operators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57514" y="403468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2" y="304800"/>
                </a:moveTo>
                <a:lnTo>
                  <a:pt x="0" y="304800"/>
                </a:lnTo>
                <a:lnTo>
                  <a:pt x="0" y="0"/>
                </a:lnTo>
                <a:lnTo>
                  <a:pt x="279192" y="0"/>
                </a:lnTo>
                <a:lnTo>
                  <a:pt x="279192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56323" y="40346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&lt;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70393" y="4768069"/>
            <a:ext cx="1778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66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8274" y="40346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&gt;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0975" y="4011829"/>
            <a:ext cx="4169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5459" algn="l"/>
                <a:tab pos="977265" algn="l"/>
              </a:tabLst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logical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operators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such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as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45967" y="403468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&amp;&amp;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63259" y="4011829"/>
            <a:ext cx="657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229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||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4649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66074" y="1953049"/>
            <a:ext cx="3488690" cy="42037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[[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condition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]]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99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9805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202124"/>
                </a:solidFill>
                <a:latin typeface="Tahoma"/>
                <a:cs typeface="Tahoma"/>
              </a:rPr>
              <a:t>numbers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6685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5272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eq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9805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202124"/>
                </a:solidFill>
                <a:latin typeface="Tahoma"/>
                <a:cs typeface="Tahoma"/>
              </a:rPr>
              <a:t>numbers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6685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5272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8989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6685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0397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eq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449" y="2052115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ne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9805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202124"/>
                </a:solidFill>
                <a:latin typeface="Tahoma"/>
                <a:cs typeface="Tahoma"/>
              </a:rPr>
              <a:t>numbers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65000"/>
              </a:lnSpc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6685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5272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8989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6685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0397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8989" y="25868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6685" y="2564029"/>
            <a:ext cx="16173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0571" y="25868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eq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0449" y="2052115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ne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0449" y="255772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gt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9805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202124"/>
                </a:solidFill>
                <a:latin typeface="Tahoma"/>
                <a:cs typeface="Tahoma"/>
              </a:rPr>
              <a:t>numbers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183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  <a:p>
            <a:pPr marL="12700" marR="5080" algn="just">
              <a:lnSpc>
                <a:spcPct val="165000"/>
              </a:lnSpc>
            </a:pP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6685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5272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8989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6685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0397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8989" y="25868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6685" y="2564029"/>
            <a:ext cx="16173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0571" y="25868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8989" y="308980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16685" y="3066949"/>
            <a:ext cx="2828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0403" y="308980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eq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449" y="2052115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ne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0449" y="255772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gt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0449" y="3063344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ge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9805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202124"/>
                </a:solidFill>
                <a:latin typeface="Tahoma"/>
                <a:cs typeface="Tahoma"/>
              </a:rPr>
              <a:t>numbers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2341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  <a:p>
            <a:pPr marL="12700" marR="5080" algn="just">
              <a:lnSpc>
                <a:spcPct val="165000"/>
              </a:lnSpc>
            </a:pP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6685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5272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8989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6685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0397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8989" y="25868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6685" y="2564029"/>
            <a:ext cx="16173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0571" y="25868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8989" y="308980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16685" y="3066949"/>
            <a:ext cx="2828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0403" y="308980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38989" y="359272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16685" y="3569869"/>
            <a:ext cx="1242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less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96323" y="359272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eq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0449" y="2052115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ne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449" y="255772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gt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0449" y="3063344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ge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449" y="3568960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lt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9805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202124"/>
                </a:solidFill>
                <a:latin typeface="Tahoma"/>
                <a:cs typeface="Tahoma"/>
              </a:rPr>
              <a:t>numbers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  <a:p>
            <a:pPr marL="12700" marR="5080" algn="just">
              <a:lnSpc>
                <a:spcPct val="165000"/>
              </a:lnSpc>
            </a:pP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6685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5272" y="1581050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8989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6685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0397" y="20839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8989" y="25868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6685" y="2564029"/>
            <a:ext cx="16173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0571" y="258688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8989" y="308980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16685" y="3066949"/>
            <a:ext cx="2828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0403" y="308980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38989" y="359272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16685" y="3569869"/>
            <a:ext cx="1242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less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96323" y="359272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38989" y="409564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16685" y="4072789"/>
            <a:ext cx="2453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less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06155" y="409564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eq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449" y="2052115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ne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0449" y="255772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gt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0449" y="3063344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ge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0449" y="3568960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lt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449" y="4074574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le</a:t>
            </a:r>
            <a:r>
              <a:rPr sz="2000" b="1" spc="-1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b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779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202124"/>
                </a:solidFill>
                <a:latin typeface="Tahoma"/>
                <a:cs typeface="Tahoma"/>
              </a:rPr>
              <a:t>strings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6281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4868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=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779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202124"/>
                </a:solidFill>
                <a:latin typeface="Tahoma"/>
                <a:cs typeface="Tahoma"/>
              </a:rPr>
              <a:t>strings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6281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4868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75" y="206111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1329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8621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2333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=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0449" y="2052124"/>
            <a:ext cx="134810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!=</a:t>
            </a:r>
            <a:r>
              <a:rPr sz="2000" b="1" spc="-3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779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202124"/>
                </a:solidFill>
                <a:latin typeface="Tahoma"/>
                <a:cs typeface="Tahoma"/>
              </a:rPr>
              <a:t>strings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6281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4868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75" y="206111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1329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8621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2333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0975" y="2564029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38989" y="258688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56281" y="2564029"/>
            <a:ext cx="1242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less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5919" y="258688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53211" y="2564029"/>
            <a:ext cx="26428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lexicographical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=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449" y="2052124"/>
            <a:ext cx="134810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!=</a:t>
            </a:r>
            <a:r>
              <a:rPr sz="2000" b="1" spc="-3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0449" y="255772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&lt;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694223" y="4768069"/>
            <a:ext cx="2540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106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779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202124"/>
                </a:solidFill>
                <a:latin typeface="Tahoma"/>
                <a:cs typeface="Tahoma"/>
              </a:rPr>
              <a:t>strings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6281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4868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75" y="206111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1329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8621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2333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38989" y="258688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6281" y="2564029"/>
            <a:ext cx="1242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less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5919" y="258688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53211" y="2564029"/>
            <a:ext cx="26428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lexicographical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38989" y="308980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7932" y="308980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0975" y="2564029"/>
            <a:ext cx="683704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1957705" algn="l"/>
                <a:tab pos="4206875" algn="l"/>
              </a:tabLst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lexicographical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=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0449" y="2052124"/>
            <a:ext cx="134810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!=</a:t>
            </a:r>
            <a:r>
              <a:rPr sz="2000" b="1" spc="-3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0449" y="255772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&lt;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449" y="3063344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&gt;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779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202124"/>
                </a:solidFill>
                <a:latin typeface="Tahoma"/>
                <a:cs typeface="Tahoma"/>
              </a:rPr>
              <a:t>strings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6281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4868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75" y="206111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1329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8621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2333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38989" y="258688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6281" y="2564029"/>
            <a:ext cx="1242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less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5919" y="258688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53211" y="2564029"/>
            <a:ext cx="26428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lexicographical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38989" y="308980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7932" y="308980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0975" y="2564029"/>
            <a:ext cx="683704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1957705" algn="l"/>
                <a:tab pos="4206875" algn="l"/>
              </a:tabLst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lexicographical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6975" y="3569869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85089" y="359272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02381" y="3569869"/>
            <a:ext cx="29413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has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length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=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0449" y="2052124"/>
            <a:ext cx="134810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!=</a:t>
            </a:r>
            <a:r>
              <a:rPr sz="2000" b="1" spc="-3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449" y="255772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&lt;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0449" y="3063344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&gt;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0449" y="3568949"/>
            <a:ext cx="91630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n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35" dirty="0"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280" dirty="0"/>
              <a:t>Comparison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6779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compare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202124"/>
                </a:solidFill>
                <a:latin typeface="Tahoma"/>
                <a:cs typeface="Tahoma"/>
              </a:rPr>
              <a:t>strings</a:t>
            </a:r>
            <a:r>
              <a:rPr sz="2000" b="1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script,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0975" y="155819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989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6281" y="1558190"/>
            <a:ext cx="114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4868" y="1581050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75" y="2061110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1329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8621" y="2061110"/>
            <a:ext cx="155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not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equal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2333" y="208396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38989" y="258688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6281" y="2564029"/>
            <a:ext cx="1242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less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5919" y="258688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53211" y="2564029"/>
            <a:ext cx="26428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lexicographical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38989" y="308980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7932" y="308980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0975" y="2564029"/>
            <a:ext cx="683704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1957705" algn="l"/>
                <a:tab pos="4206875" algn="l"/>
              </a:tabLst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lexicographical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order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6975" y="3569869"/>
            <a:ext cx="159194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checking</a:t>
            </a:r>
            <a:r>
              <a:rPr sz="2000" spc="-14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85089" y="359272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02381" y="3569869"/>
            <a:ext cx="294132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has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length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greater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than</a:t>
            </a:r>
            <a:r>
              <a:rPr sz="2000" spc="-21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has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length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of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85089" y="4095649"/>
            <a:ext cx="279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0449" y="154649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=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449" y="2052124"/>
            <a:ext cx="134810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!=</a:t>
            </a:r>
            <a:r>
              <a:rPr sz="2000" b="1" spc="-3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0449" y="2557729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&lt;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0449" y="3063344"/>
            <a:ext cx="120015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s1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&gt;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s2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0449" y="3568949"/>
            <a:ext cx="91630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n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35" dirty="0"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449" y="4074574"/>
            <a:ext cx="91630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-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z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35" dirty="0">
                <a:latin typeface="Consolas"/>
                <a:cs typeface="Consolas"/>
              </a:rPr>
              <a:t>s1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35" dirty="0"/>
              <a:t>Arithmetic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5229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arithmetic,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follow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syntax.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35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5229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arithmetic,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follow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syntax.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1628" y="1626769"/>
            <a:ext cx="139700" cy="304800"/>
          </a:xfrm>
          <a:custGeom>
            <a:avLst/>
            <a:gdLst/>
            <a:ahLst/>
            <a:cxnLst/>
            <a:rect l="l" t="t" r="r" b="b"/>
            <a:pathLst>
              <a:path w="139700" h="304800">
                <a:moveTo>
                  <a:pt x="139595" y="304800"/>
                </a:moveTo>
                <a:lnTo>
                  <a:pt x="0" y="304800"/>
                </a:lnTo>
                <a:lnTo>
                  <a:pt x="0" y="0"/>
                </a:lnTo>
                <a:lnTo>
                  <a:pt x="139595" y="0"/>
                </a:lnTo>
                <a:lnTo>
                  <a:pt x="139595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47991" y="1626769"/>
            <a:ext cx="139700" cy="304800"/>
          </a:xfrm>
          <a:custGeom>
            <a:avLst/>
            <a:gdLst/>
            <a:ahLst/>
            <a:cxnLst/>
            <a:rect l="l" t="t" r="r" b="b"/>
            <a:pathLst>
              <a:path w="139700" h="304800">
                <a:moveTo>
                  <a:pt x="139595" y="304800"/>
                </a:moveTo>
                <a:lnTo>
                  <a:pt x="0" y="304800"/>
                </a:lnTo>
                <a:lnTo>
                  <a:pt x="0" y="0"/>
                </a:lnTo>
                <a:lnTo>
                  <a:pt x="139595" y="0"/>
                </a:lnTo>
                <a:lnTo>
                  <a:pt x="139595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07026" y="16267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112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40975" y="1603909"/>
            <a:ext cx="65455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6180" algn="l"/>
              </a:tabLst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add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numbers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2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449" y="1996875"/>
            <a:ext cx="16433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10" dirty="0">
                <a:latin typeface="Consolas"/>
                <a:cs typeface="Consolas"/>
              </a:rPr>
              <a:t>a=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$((</a:t>
            </a:r>
            <a:r>
              <a:rPr sz="2000" spc="-10" dirty="0">
                <a:latin typeface="Consolas"/>
                <a:cs typeface="Consolas"/>
              </a:rPr>
              <a:t>1+2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))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35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5229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arithmetic,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follow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syntax.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1628" y="1626769"/>
            <a:ext cx="139700" cy="304800"/>
          </a:xfrm>
          <a:custGeom>
            <a:avLst/>
            <a:gdLst/>
            <a:ahLst/>
            <a:cxnLst/>
            <a:rect l="l" t="t" r="r" b="b"/>
            <a:pathLst>
              <a:path w="139700" h="304800">
                <a:moveTo>
                  <a:pt x="139595" y="304800"/>
                </a:moveTo>
                <a:lnTo>
                  <a:pt x="0" y="304800"/>
                </a:lnTo>
                <a:lnTo>
                  <a:pt x="0" y="0"/>
                </a:lnTo>
                <a:lnTo>
                  <a:pt x="139595" y="0"/>
                </a:lnTo>
                <a:lnTo>
                  <a:pt x="139595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47991" y="1626769"/>
            <a:ext cx="139700" cy="304800"/>
          </a:xfrm>
          <a:custGeom>
            <a:avLst/>
            <a:gdLst/>
            <a:ahLst/>
            <a:cxnLst/>
            <a:rect l="l" t="t" r="r" b="b"/>
            <a:pathLst>
              <a:path w="139700" h="304800">
                <a:moveTo>
                  <a:pt x="139595" y="304800"/>
                </a:moveTo>
                <a:lnTo>
                  <a:pt x="0" y="304800"/>
                </a:lnTo>
                <a:lnTo>
                  <a:pt x="0" y="0"/>
                </a:lnTo>
                <a:lnTo>
                  <a:pt x="139595" y="0"/>
                </a:lnTo>
                <a:lnTo>
                  <a:pt x="139595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07026" y="16267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113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40975" y="1603909"/>
            <a:ext cx="65455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6180" algn="l"/>
              </a:tabLst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add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numbers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2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975" y="2609749"/>
            <a:ext cx="2236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3885" y="263260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let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0772" y="2609749"/>
            <a:ext cx="10312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keyword: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0449" y="1996875"/>
            <a:ext cx="16433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10" dirty="0">
                <a:latin typeface="Consolas"/>
                <a:cs typeface="Consolas"/>
              </a:rPr>
              <a:t>a=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$((</a:t>
            </a:r>
            <a:r>
              <a:rPr sz="2000" spc="-10" dirty="0">
                <a:latin typeface="Consolas"/>
                <a:cs typeface="Consolas"/>
              </a:rPr>
              <a:t>1+2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))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449" y="2966774"/>
            <a:ext cx="155194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let</a:t>
            </a:r>
            <a:r>
              <a:rPr sz="2000" b="1" spc="-4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a=1+2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35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975" y="1100990"/>
            <a:ext cx="5229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arithmetic,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need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follow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bash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syntax.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1628" y="1626769"/>
            <a:ext cx="139700" cy="304800"/>
          </a:xfrm>
          <a:custGeom>
            <a:avLst/>
            <a:gdLst/>
            <a:ahLst/>
            <a:cxnLst/>
            <a:rect l="l" t="t" r="r" b="b"/>
            <a:pathLst>
              <a:path w="139700" h="304800">
                <a:moveTo>
                  <a:pt x="139595" y="304800"/>
                </a:moveTo>
                <a:lnTo>
                  <a:pt x="0" y="304800"/>
                </a:lnTo>
                <a:lnTo>
                  <a:pt x="0" y="0"/>
                </a:lnTo>
                <a:lnTo>
                  <a:pt x="139595" y="0"/>
                </a:lnTo>
                <a:lnTo>
                  <a:pt x="139595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47991" y="1626769"/>
            <a:ext cx="139700" cy="304800"/>
          </a:xfrm>
          <a:custGeom>
            <a:avLst/>
            <a:gdLst/>
            <a:ahLst/>
            <a:cxnLst/>
            <a:rect l="l" t="t" r="r" b="b"/>
            <a:pathLst>
              <a:path w="139700" h="304800">
                <a:moveTo>
                  <a:pt x="139595" y="304800"/>
                </a:moveTo>
                <a:lnTo>
                  <a:pt x="0" y="304800"/>
                </a:lnTo>
                <a:lnTo>
                  <a:pt x="0" y="0"/>
                </a:lnTo>
                <a:lnTo>
                  <a:pt x="139595" y="0"/>
                </a:lnTo>
                <a:lnTo>
                  <a:pt x="139595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07026" y="1626769"/>
            <a:ext cx="1524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114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40975" y="1603909"/>
            <a:ext cx="65455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6180" algn="l"/>
              </a:tabLst>
            </a:pP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add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two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numbers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	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1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Consolas"/>
                <a:cs typeface="Consolas"/>
              </a:rPr>
              <a:t>2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assign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variable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a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975" y="2609749"/>
            <a:ext cx="2236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also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3885" y="2632609"/>
            <a:ext cx="4191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202124"/>
                </a:solidFill>
                <a:latin typeface="Consolas"/>
                <a:cs typeface="Consolas"/>
              </a:rPr>
              <a:t>let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0772" y="2609749"/>
            <a:ext cx="10312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keyword: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0975" y="3615589"/>
            <a:ext cx="3328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expr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keyword: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449" y="1996875"/>
            <a:ext cx="164338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spc="-10" dirty="0">
                <a:latin typeface="Consolas"/>
                <a:cs typeface="Consolas"/>
              </a:rPr>
              <a:t>a=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$((</a:t>
            </a:r>
            <a:r>
              <a:rPr sz="2000" spc="-10" dirty="0">
                <a:latin typeface="Consolas"/>
                <a:cs typeface="Consolas"/>
              </a:rPr>
              <a:t>1+2</a:t>
            </a:r>
            <a:r>
              <a:rPr sz="2000" b="1" spc="-10" dirty="0">
                <a:solidFill>
                  <a:srgbClr val="0072F9"/>
                </a:solidFill>
                <a:latin typeface="Consolas"/>
                <a:cs typeface="Consolas"/>
              </a:rPr>
              <a:t>))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0449" y="2966774"/>
            <a:ext cx="1551940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let</a:t>
            </a:r>
            <a:r>
              <a:rPr sz="2000" b="1" spc="-4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a=1+2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0449" y="3982099"/>
            <a:ext cx="2619375" cy="401955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Consolas"/>
                <a:cs typeface="Consolas"/>
              </a:rPr>
              <a:t>a=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$(</a:t>
            </a:r>
            <a:r>
              <a:rPr sz="2000" b="1" spc="-3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2F9"/>
                </a:solidFill>
                <a:latin typeface="Consolas"/>
                <a:cs typeface="Consolas"/>
              </a:rPr>
              <a:t>expr</a:t>
            </a:r>
            <a:r>
              <a:rPr sz="2000" b="1" spc="-25" dirty="0">
                <a:solidFill>
                  <a:srgbClr val="0072F9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+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2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b="1" spc="-50" dirty="0">
                <a:solidFill>
                  <a:srgbClr val="0072F9"/>
                </a:solidFill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1640"/>
            <a:ext cx="4090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95" dirty="0">
                <a:solidFill>
                  <a:srgbClr val="202124"/>
                </a:solidFill>
                <a:latin typeface="Tahoma"/>
                <a:cs typeface="Tahoma"/>
              </a:rPr>
              <a:t>Exercise</a:t>
            </a:r>
            <a:r>
              <a:rPr sz="2000" b="1" spc="-1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rgbClr val="202124"/>
                </a:solidFill>
                <a:latin typeface="Tahoma"/>
                <a:cs typeface="Tahoma"/>
              </a:rPr>
              <a:t>4:</a:t>
            </a:r>
            <a:r>
              <a:rPr sz="2000" b="1" spc="-1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Write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5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5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called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1357" y="1214499"/>
            <a:ext cx="251333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timely_greeting.sh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2182" y="1191640"/>
            <a:ext cx="1238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that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greets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1542160"/>
            <a:ext cx="6137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based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on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current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time.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should</a:t>
            </a:r>
            <a:r>
              <a:rPr sz="2000" spc="-17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7026" y="1565019"/>
            <a:ext cx="55880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0" dirty="0">
                <a:solidFill>
                  <a:srgbClr val="202124"/>
                </a:solidFill>
                <a:latin typeface="Consolas"/>
                <a:cs typeface="Consolas"/>
              </a:rPr>
              <a:t>date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89055" y="1915539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279192" y="304800"/>
                </a:moveTo>
                <a:lnTo>
                  <a:pt x="0" y="304800"/>
                </a:lnTo>
                <a:lnTo>
                  <a:pt x="0" y="0"/>
                </a:lnTo>
                <a:lnTo>
                  <a:pt x="279192" y="0"/>
                </a:lnTo>
                <a:lnTo>
                  <a:pt x="279192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4725" y="1892680"/>
            <a:ext cx="7545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command,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extract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current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hour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(look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using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02124"/>
                </a:solidFill>
                <a:latin typeface="Consolas"/>
                <a:cs typeface="Consolas"/>
              </a:rPr>
              <a:t>%H</a:t>
            </a:r>
            <a:r>
              <a:rPr sz="2000" spc="-100" dirty="0">
                <a:solidFill>
                  <a:srgbClr val="202124"/>
                </a:solidFill>
                <a:latin typeface="Tahoma"/>
                <a:cs typeface="Tahoma"/>
              </a:rPr>
              <a:t>)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print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115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384725" y="2243199"/>
            <a:ext cx="490601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following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greeting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based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on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time.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between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5AM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02124"/>
                </a:solidFill>
                <a:latin typeface="Tahoma"/>
                <a:cs typeface="Tahoma"/>
              </a:rPr>
              <a:t>(05:00)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02124"/>
                </a:solidFill>
                <a:latin typeface="Tahoma"/>
                <a:cs typeface="Tahoma"/>
              </a:rPr>
              <a:t>12PM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(12:00):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6126" y="2768979"/>
            <a:ext cx="181483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Good</a:t>
            </a:r>
            <a:r>
              <a:rPr sz="2000" spc="-65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morning!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725" y="3249039"/>
            <a:ext cx="48494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between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02124"/>
                </a:solidFill>
                <a:latin typeface="Tahoma"/>
                <a:cs typeface="Tahoma"/>
              </a:rPr>
              <a:t>12PM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30" dirty="0">
                <a:solidFill>
                  <a:srgbClr val="202124"/>
                </a:solidFill>
                <a:latin typeface="Tahoma"/>
                <a:cs typeface="Tahoma"/>
              </a:rPr>
              <a:t>(12:00)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6PM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202124"/>
                </a:solidFill>
                <a:latin typeface="Tahoma"/>
                <a:cs typeface="Tahoma"/>
              </a:rPr>
              <a:t>(18:00):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69760" y="3271899"/>
            <a:ext cx="2094230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Good</a:t>
            </a:r>
            <a:r>
              <a:rPr sz="2000" spc="-65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afternoon!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725" y="3751960"/>
            <a:ext cx="46647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is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between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6PM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40" dirty="0">
                <a:solidFill>
                  <a:srgbClr val="202124"/>
                </a:solidFill>
                <a:latin typeface="Tahoma"/>
                <a:cs typeface="Tahoma"/>
              </a:rPr>
              <a:t>(18:00)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and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5AM</a:t>
            </a:r>
            <a:r>
              <a:rPr sz="2000" spc="-18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(5:00):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4667" y="3774819"/>
            <a:ext cx="1536065" cy="30480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solidFill>
                  <a:srgbClr val="202124"/>
                </a:solidFill>
                <a:latin typeface="Consolas"/>
                <a:cs typeface="Consolas"/>
              </a:rPr>
              <a:t>Good</a:t>
            </a:r>
            <a:r>
              <a:rPr sz="2000" spc="-65" dirty="0">
                <a:solidFill>
                  <a:srgbClr val="202124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night!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Bash</a:t>
            </a:r>
            <a:r>
              <a:rPr spc="160" dirty="0"/>
              <a:t> </a:t>
            </a:r>
            <a:r>
              <a:rPr spc="290" dirty="0"/>
              <a:t>Scripting:</a:t>
            </a:r>
            <a:r>
              <a:rPr spc="160" dirty="0"/>
              <a:t> </a:t>
            </a:r>
            <a:r>
              <a:rPr spc="300" dirty="0"/>
              <a:t>Exercise</a:t>
            </a:r>
          </a:p>
        </p:txBody>
      </p:sp>
      <p:sp>
        <p:nvSpPr>
          <p:cNvPr id="3" name="object 3"/>
          <p:cNvSpPr/>
          <p:nvPr/>
        </p:nvSpPr>
        <p:spPr>
          <a:xfrm>
            <a:off x="415224" y="958200"/>
            <a:ext cx="7677784" cy="4049395"/>
          </a:xfrm>
          <a:custGeom>
            <a:avLst/>
            <a:gdLst/>
            <a:ahLst/>
            <a:cxnLst/>
            <a:rect l="l" t="t" r="r" b="b"/>
            <a:pathLst>
              <a:path w="7677784" h="4049395">
                <a:moveTo>
                  <a:pt x="7677599" y="4049099"/>
                </a:moveTo>
                <a:lnTo>
                  <a:pt x="0" y="4049099"/>
                </a:lnTo>
                <a:lnTo>
                  <a:pt x="0" y="0"/>
                </a:lnTo>
                <a:lnTo>
                  <a:pt x="7677599" y="0"/>
                </a:lnTo>
                <a:lnTo>
                  <a:pt x="7677599" y="40490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8249" y="973440"/>
            <a:ext cx="26752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82AE6E"/>
                </a:solidFill>
                <a:latin typeface="Consolas"/>
                <a:cs typeface="Consolas"/>
              </a:rPr>
              <a:t>#!/usr/bin/env</a:t>
            </a:r>
            <a:r>
              <a:rPr sz="2000" spc="-225" dirty="0">
                <a:solidFill>
                  <a:srgbClr val="82AE6E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82AE6E"/>
                </a:solidFill>
                <a:latin typeface="Consolas"/>
                <a:cs typeface="Consolas"/>
              </a:rPr>
              <a:t>bash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249" y="1583040"/>
            <a:ext cx="574294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nsolas"/>
                <a:cs typeface="Consolas"/>
              </a:rPr>
              <a:t>time=$(date</a:t>
            </a:r>
            <a:r>
              <a:rPr sz="2000" spc="-180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+%H)</a:t>
            </a:r>
            <a:endParaRPr sz="2000">
              <a:latin typeface="Consolas"/>
              <a:cs typeface="Consolas"/>
            </a:endParaRPr>
          </a:p>
          <a:p>
            <a:pPr marL="12700" marR="422909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if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$time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5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]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&amp;&amp;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$time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lt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12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"Good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morning!"</a:t>
            </a:r>
            <a:endParaRPr sz="20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elif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$time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12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]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&amp;&amp;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$time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lt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18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"Good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evening!"</a:t>
            </a:r>
            <a:endParaRPr sz="2000">
              <a:latin typeface="Consolas"/>
              <a:cs typeface="Consolas"/>
            </a:endParaRPr>
          </a:p>
          <a:p>
            <a:pPr marL="12700" marR="14414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elif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$time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gt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18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]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&amp;&amp;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[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$time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-</a:t>
            </a:r>
            <a:r>
              <a:rPr sz="2000" dirty="0">
                <a:latin typeface="Consolas"/>
                <a:cs typeface="Consolas"/>
              </a:rPr>
              <a:t>lt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5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] </a:t>
            </a:r>
            <a:r>
              <a:rPr sz="2000" spc="-20" dirty="0">
                <a:latin typeface="Consolas"/>
                <a:cs typeface="Consolas"/>
              </a:rPr>
              <a:t>then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echo</a:t>
            </a:r>
            <a:r>
              <a:rPr sz="2000" spc="-7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"Good</a:t>
            </a:r>
            <a:r>
              <a:rPr sz="2000" spc="-7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night!"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Consolas"/>
                <a:cs typeface="Consolas"/>
              </a:rPr>
              <a:t>fi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94223" y="4766036"/>
            <a:ext cx="254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117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Advanced</a:t>
            </a:r>
            <a:r>
              <a:rPr spc="145" dirty="0"/>
              <a:t> </a:t>
            </a:r>
            <a:r>
              <a:rPr spc="254" dirty="0"/>
              <a:t>Running</a:t>
            </a:r>
          </a:p>
        </p:txBody>
      </p:sp>
      <p:sp>
        <p:nvSpPr>
          <p:cNvPr id="3" name="object 3"/>
          <p:cNvSpPr/>
          <p:nvPr/>
        </p:nvSpPr>
        <p:spPr>
          <a:xfrm>
            <a:off x="7158756" y="121449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800"/>
                </a:moveTo>
                <a:lnTo>
                  <a:pt x="0" y="304800"/>
                </a:lnTo>
                <a:lnTo>
                  <a:pt x="0" y="0"/>
                </a:lnTo>
                <a:lnTo>
                  <a:pt x="697979" y="0"/>
                </a:lnTo>
                <a:lnTo>
                  <a:pt x="697979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0161" y="156501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9" y="304799"/>
                </a:moveTo>
                <a:lnTo>
                  <a:pt x="0" y="304799"/>
                </a:lnTo>
                <a:lnTo>
                  <a:pt x="0" y="0"/>
                </a:lnTo>
                <a:lnTo>
                  <a:pt x="697979" y="0"/>
                </a:lnTo>
                <a:lnTo>
                  <a:pt x="697979" y="3047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4725" y="1145919"/>
            <a:ext cx="7555865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turn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shell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into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202124"/>
                </a:solidFill>
                <a:latin typeface="Tahoma"/>
                <a:cs typeface="Tahoma"/>
              </a:rPr>
              <a:t>"command"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moving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to</a:t>
            </a:r>
            <a:r>
              <a:rPr sz="2000" spc="-22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~/bin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.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For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example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02124"/>
                </a:solidFill>
                <a:latin typeface="Tahoma"/>
                <a:cs typeface="Tahoma"/>
              </a:rPr>
              <a:t>if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02124"/>
                </a:solidFill>
                <a:latin typeface="Tahoma"/>
                <a:cs typeface="Tahoma"/>
              </a:rPr>
              <a:t>have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script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called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Consolas"/>
                <a:cs typeface="Consolas"/>
              </a:rPr>
              <a:t>hello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,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could</a:t>
            </a:r>
            <a:r>
              <a:rPr sz="2000" spc="-1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do</a:t>
            </a:r>
            <a:r>
              <a:rPr sz="2000" spc="-1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02124"/>
                </a:solidFill>
                <a:latin typeface="Tahoma"/>
                <a:cs typeface="Tahoma"/>
              </a:rPr>
              <a:t>the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following: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58618" y="2921379"/>
            <a:ext cx="698500" cy="304800"/>
          </a:xfrm>
          <a:custGeom>
            <a:avLst/>
            <a:gdLst/>
            <a:ahLst/>
            <a:cxnLst/>
            <a:rect l="l" t="t" r="r" b="b"/>
            <a:pathLst>
              <a:path w="698500" h="304800">
                <a:moveTo>
                  <a:pt x="697978" y="304800"/>
                </a:moveTo>
                <a:lnTo>
                  <a:pt x="0" y="304800"/>
                </a:lnTo>
                <a:lnTo>
                  <a:pt x="0" y="0"/>
                </a:lnTo>
                <a:lnTo>
                  <a:pt x="697978" y="0"/>
                </a:lnTo>
                <a:lnTo>
                  <a:pt x="697978" y="30480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725" y="2898519"/>
            <a:ext cx="5770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You</a:t>
            </a:r>
            <a:r>
              <a:rPr sz="2000" spc="-204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then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02124"/>
                </a:solidFill>
                <a:latin typeface="Tahoma"/>
                <a:cs typeface="Tahoma"/>
              </a:rPr>
              <a:t>run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the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command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02124"/>
                </a:solidFill>
                <a:latin typeface="Tahoma"/>
                <a:cs typeface="Tahoma"/>
              </a:rPr>
              <a:t>by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just</a:t>
            </a:r>
            <a:r>
              <a:rPr sz="2000" spc="-20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calling</a:t>
            </a:r>
            <a:r>
              <a:rPr sz="2000" spc="-22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Consolas"/>
                <a:cs typeface="Consolas"/>
              </a:rPr>
              <a:t>hello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4223" y="4768069"/>
            <a:ext cx="254000" cy="1854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000" spc="-25" dirty="0">
                <a:solidFill>
                  <a:srgbClr val="424242"/>
                </a:solidFill>
                <a:latin typeface="Courier New"/>
                <a:cs typeface="Courier New"/>
              </a:rPr>
              <a:t>118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3858640"/>
            <a:ext cx="751205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b="1" spc="-114" dirty="0">
                <a:solidFill>
                  <a:srgbClr val="FF0000"/>
                </a:solidFill>
                <a:latin typeface="Tahoma"/>
                <a:cs typeface="Tahoma"/>
              </a:rPr>
              <a:t>Note:</a:t>
            </a:r>
            <a:r>
              <a:rPr sz="2000" b="1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this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probably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202124"/>
                </a:solidFill>
                <a:latin typeface="Tahoma"/>
                <a:cs typeface="Tahoma"/>
              </a:rPr>
              <a:t>won't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work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yet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02124"/>
                </a:solidFill>
                <a:latin typeface="Tahoma"/>
                <a:cs typeface="Tahoma"/>
              </a:rPr>
              <a:t>on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your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computer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but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02124"/>
                </a:solidFill>
                <a:latin typeface="Tahoma"/>
                <a:cs typeface="Tahoma"/>
              </a:rPr>
              <a:t>we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will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learn </a:t>
            </a:r>
            <a:r>
              <a:rPr sz="2000" spc="-20" dirty="0">
                <a:solidFill>
                  <a:srgbClr val="202124"/>
                </a:solidFill>
                <a:latin typeface="Tahoma"/>
                <a:cs typeface="Tahoma"/>
              </a:rPr>
              <a:t>about</a:t>
            </a:r>
            <a:r>
              <a:rPr sz="2000" spc="-19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it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02124"/>
                </a:solidFill>
                <a:latin typeface="Tahoma"/>
                <a:cs typeface="Tahoma"/>
              </a:rPr>
              <a:t>in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later</a:t>
            </a:r>
            <a:r>
              <a:rPr sz="2000" spc="-19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02124"/>
                </a:solidFill>
                <a:latin typeface="Tahoma"/>
                <a:cs typeface="Tahoma"/>
              </a:rPr>
              <a:t>lecture.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649" y="2257849"/>
            <a:ext cx="6218555" cy="33598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2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 </a:t>
            </a:r>
            <a:r>
              <a:rPr sz="2000" dirty="0">
                <a:latin typeface="Consolas"/>
                <a:cs typeface="Consolas"/>
              </a:rPr>
              <a:t>mv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hello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~/bin/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4649" y="3299100"/>
            <a:ext cx="6218555" cy="335989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b="1" spc="-25" dirty="0" err="1">
                <a:latin typeface="Consolas"/>
                <a:cs typeface="Consolas"/>
              </a:rPr>
              <a:t>root@sandeep-computer</a:t>
            </a:r>
            <a:r>
              <a:rPr sz="2000" b="1" dirty="0">
                <a:latin typeface="Consolas"/>
                <a:cs typeface="Consolas"/>
              </a:rPr>
              <a:t>~</a:t>
            </a:r>
            <a:r>
              <a:rPr sz="2000" b="1" spc="-1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%</a:t>
            </a:r>
            <a:r>
              <a:rPr sz="2000" b="1" spc="2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hello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2701</TotalTime>
  <Words>6133</Words>
  <Application>Microsoft Office PowerPoint</Application>
  <PresentationFormat>On-screen Show (16:9)</PresentationFormat>
  <Paragraphs>1084</Paragraphs>
  <Slides>117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6" baseType="lpstr">
      <vt:lpstr>Arial</vt:lpstr>
      <vt:lpstr>Arial MT</vt:lpstr>
      <vt:lpstr>Consolas</vt:lpstr>
      <vt:lpstr>Courier New</vt:lpstr>
      <vt:lpstr>Nunito</vt:lpstr>
      <vt:lpstr>Tahoma</vt:lpstr>
      <vt:lpstr>Times New Roman</vt:lpstr>
      <vt:lpstr>Trebuchet MS</vt:lpstr>
      <vt:lpstr>Office Theme</vt:lpstr>
      <vt:lpstr>Shell Scripting </vt:lpstr>
      <vt:lpstr>What is Kernel?</vt:lpstr>
      <vt:lpstr>What is Kernel?</vt:lpstr>
      <vt:lpstr>What is Shell?</vt:lpstr>
      <vt:lpstr>What is Shell Scripting?</vt:lpstr>
      <vt:lpstr>What is Shell Scripting?</vt:lpstr>
      <vt:lpstr>Basics of Bash Scripting</vt:lpstr>
      <vt:lpstr>Basics of Bash Scripting</vt:lpstr>
      <vt:lpstr>Basics of Bash Scripting</vt:lpstr>
      <vt:lpstr>Your Very First Script</vt:lpstr>
      <vt:lpstr>Your Very First Script</vt:lpstr>
      <vt:lpstr>Your Very First Script</vt:lpstr>
      <vt:lpstr>Shebang</vt:lpstr>
      <vt:lpstr>Shebang</vt:lpstr>
      <vt:lpstr>Running (Your Very First Script)</vt:lpstr>
      <vt:lpstr>Running (Your Very First Script)</vt:lpstr>
      <vt:lpstr>Running (Your Very First Script)</vt:lpstr>
      <vt:lpstr>Running (Your Very First Script)</vt:lpstr>
      <vt:lpstr>Running (Your Very First Script)</vt:lpstr>
      <vt:lpstr>Running (Your Very First Script)</vt:lpstr>
      <vt:lpstr>Bash Scripting: Variables</vt:lpstr>
      <vt:lpstr>Bash Scripting: Variables</vt:lpstr>
      <vt:lpstr>Bash Scripting: Variables</vt:lpstr>
      <vt:lpstr>Bash Scripting: Strings</vt:lpstr>
      <vt:lpstr>Bash Scripting: Strings</vt:lpstr>
      <vt:lpstr>Bash Scripting: Strings</vt:lpstr>
      <vt:lpstr>Your Very First Script</vt:lpstr>
      <vt:lpstr>Bash Scripting: Control Flow</vt:lpstr>
      <vt:lpstr>Bash Scripting: Control Flow</vt:lpstr>
      <vt:lpstr>Bash Scripting: Control Flow</vt:lpstr>
      <vt:lpstr>Bash Scripting: Control Flow</vt:lpstr>
      <vt:lpstr>Bash Scripting: Control Flow</vt:lpstr>
      <vt:lpstr>Bash Scripting: Control Flow</vt:lpstr>
      <vt:lpstr>Bash Scripting: Control Flow</vt:lpstr>
      <vt:lpstr>Bash Scripting: Control Flow</vt:lpstr>
      <vt:lpstr>Bash Scripting: Control Flow</vt:lpstr>
      <vt:lpstr>Bash Scripting: Control Flow</vt:lpstr>
      <vt:lpstr>Bash Scripting: Exercise</vt:lpstr>
      <vt:lpstr>Bash Scripting: Exercise</vt:lpstr>
      <vt:lpstr>Bash Scripting: Arguments</vt:lpstr>
      <vt:lpstr>Bash Scripting: Arguments</vt:lpstr>
      <vt:lpstr>Bash Scripting: Arguments</vt:lpstr>
      <vt:lpstr>Bash Scripting: Arguments</vt:lpstr>
      <vt:lpstr>Bash Scripting: Arguments</vt:lpstr>
      <vt:lpstr>Bash Scripting: Arguments</vt:lpstr>
      <vt:lpstr>Bash Scripting: Arguments</vt:lpstr>
      <vt:lpstr>Bash Scripting: Arguments</vt:lpstr>
      <vt:lpstr>Bash Scripting: Arguments</vt:lpstr>
      <vt:lpstr>Bash Scripting: Arguments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Functions</vt:lpstr>
      <vt:lpstr>Bash Scripting: Exercise</vt:lpstr>
      <vt:lpstr>Bash Scripting: Exercise</vt:lpstr>
      <vt:lpstr>Bash Scripting: Return Values</vt:lpstr>
      <vt:lpstr>Bash Scripting: Return Values</vt:lpstr>
      <vt:lpstr>Bash Scripting: Return Values</vt:lpstr>
      <vt:lpstr>Bash Scripting: Return Values</vt:lpstr>
      <vt:lpstr>Bash Scripting: Return Values</vt:lpstr>
      <vt:lpstr>Bash Scripting: Return Values</vt:lpstr>
      <vt:lpstr>Bash Scripting: Return Values</vt:lpstr>
      <vt:lpstr>Bash Scripting: Return Values</vt:lpstr>
      <vt:lpstr>Bash Scripting: Return Values</vt:lpstr>
      <vt:lpstr>Bash Scripting: Return Values</vt:lpstr>
      <vt:lpstr>Bash Scripting: Return Values</vt:lpstr>
      <vt:lpstr>Bash Scripting: Exercise</vt:lpstr>
      <vt:lpstr>Bash Scripting: Exercise</vt:lpstr>
      <vt:lpstr>Bash Scripting: Exercise</vt:lpstr>
      <vt:lpstr>Bash Scripting: Exercise</vt:lpstr>
      <vt:lpstr>Bash Scripting: Exercise</vt:lpstr>
      <vt:lpstr>Bash Scripting: Command Substitution</vt:lpstr>
      <vt:lpstr>Bash Scripting: Command Substitution</vt:lpstr>
      <vt:lpstr>Bash Scripting: Extra Syntax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[ vs [[</vt:lpstr>
      <vt:lpstr>Bash Scripting: Comparison</vt:lpstr>
      <vt:lpstr>Bash Scripting: Comparison</vt:lpstr>
      <vt:lpstr>Bash Scripting: Comparison</vt:lpstr>
      <vt:lpstr>Bash Scripting: Comparison</vt:lpstr>
      <vt:lpstr>Bash Scripting: Comparison</vt:lpstr>
      <vt:lpstr>Bash Scripting: Comparison</vt:lpstr>
      <vt:lpstr>Bash Scripting: Comparison</vt:lpstr>
      <vt:lpstr>Bash Scripting: Comparison</vt:lpstr>
      <vt:lpstr>Bash Scripting: Comparison</vt:lpstr>
      <vt:lpstr>Bash Scripting: Comparison</vt:lpstr>
      <vt:lpstr>Bash Scripting: Comparison</vt:lpstr>
      <vt:lpstr>Bash Scripting: Comparison</vt:lpstr>
      <vt:lpstr>Bash Scripting: Arithmetic</vt:lpstr>
      <vt:lpstr>Bash Scripting: Arithmetic</vt:lpstr>
      <vt:lpstr>Bash Scripting: Arithmetic</vt:lpstr>
      <vt:lpstr>Bash Scripting: Arithmetic</vt:lpstr>
      <vt:lpstr>Bash Scripting: Exercise</vt:lpstr>
      <vt:lpstr>Bash Scripting: Exercise</vt:lpstr>
      <vt:lpstr>Advanced Running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Shell Scripting</dc:title>
  <cp:lastModifiedBy>Sandeep Kaushik</cp:lastModifiedBy>
  <cp:revision>7</cp:revision>
  <dcterms:created xsi:type="dcterms:W3CDTF">2024-07-19T09:21:19Z</dcterms:created>
  <dcterms:modified xsi:type="dcterms:W3CDTF">2025-05-12T04:02:53Z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